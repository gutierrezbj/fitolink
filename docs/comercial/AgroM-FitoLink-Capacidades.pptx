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uanguti/dev/srs/fitolink/apps/web/public/brand/agrom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9848" y="1645920"/>
            <a:ext cx="4572000" cy="14287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47208" y="3383280"/>
            <a:ext cx="1097280" cy="0"/>
          </a:xfrm>
          <a:prstGeom prst="line">
            <a:avLst/>
          </a:prstGeom>
          <a:noFill/>
          <a:ln w="9525">
            <a:solidFill>
              <a:srgbClr val="C9A87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14400" y="356616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Inteligencia agraria de precisión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443484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6B6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su explotación de pistacho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14400" y="635508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6B6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AGROM · INFORME DE CAPACIDADES · 2026   ·   agrom.es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6B6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01 · CONTEXTO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Hoy se trata el campo a ciegas.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31520" cy="0"/>
          </a:xfrm>
          <a:prstGeom prst="line">
            <a:avLst/>
          </a:prstGeom>
          <a:noFill/>
          <a:ln w="9525">
            <a:solidFill>
              <a:srgbClr val="C9A87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0"/>
            <a:ext cx="3454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E07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01.1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4542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Aplicación uniforme,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diagnóstico previo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4069080"/>
            <a:ext cx="345429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tratamiento se aplica igual en toda la parcela aunque solo una parte lo necesite. Más producto del necesario, más coste, más impacto ambiental.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68698" y="2377440"/>
            <a:ext cx="3454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E07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01.2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68698" y="2743200"/>
            <a:ext cx="34542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evidencia técnica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PAC ni seguros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368698" y="4069080"/>
            <a:ext cx="345429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llega una inspección o un siniestro, no hay historial verificable del estado del cultivo antes del evento.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88757" y="2377440"/>
            <a:ext cx="3454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E07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01.3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88757" y="2743200"/>
            <a:ext cx="34542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Reacción tardía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plagas y estrés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188757" y="4069080"/>
            <a:ext cx="345429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cuando el daño se ve a simple vista, ya está hecho. Falta una vigilancia continua que avise antes.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A8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400" kern="0" dirty="0">
                <a:solidFill>
                  <a:srgbClr val="6B6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AGROM · INTELIGENCIA AGRARIA DE PRECISIÓN · 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B6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agrom.es · fitolink.systemrapid.io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6B6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02 · MÉTODO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Cuatro capas que se activan en cadena.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31520" cy="0"/>
          </a:xfrm>
          <a:prstGeom prst="line">
            <a:avLst/>
          </a:prstGeom>
          <a:noFill/>
          <a:ln w="9525">
            <a:solidFill>
              <a:srgbClr val="C9A87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0"/>
            <a:ext cx="2567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dirty="0">
                <a:solidFill>
                  <a:srgbClr val="E07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SATÉLITE COPERNICUS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25678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5 días, imagen del Sentinel-2 europeo sobre sus parcelas. Calculamos cinco índices del estado del cultivo, incluida la zona infrarroja que el ojo no ve.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53664" y="2286000"/>
            <a:ext cx="0" cy="3200400"/>
          </a:xfrm>
          <a:prstGeom prst="line">
            <a:avLst/>
          </a:prstGeom>
          <a:noFill/>
          <a:ln w="6350">
            <a:solidFill>
              <a:srgbClr val="C9A8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90824" y="2286000"/>
            <a:ext cx="2567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dirty="0">
                <a:solidFill>
                  <a:srgbClr val="E07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3390824" y="3429000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INTELIGENCIA ARTIFICIAL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90824" y="3977640"/>
            <a:ext cx="25678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entrenado con miles de patrones detecta caídas anómalas en cada parcela, cruzando datos del histórico de 5 años y del clima reciente.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95848" y="2286000"/>
            <a:ext cx="0" cy="3200400"/>
          </a:xfrm>
          <a:prstGeom prst="line">
            <a:avLst/>
          </a:prstGeom>
          <a:noFill/>
          <a:ln w="6350">
            <a:solidFill>
              <a:srgbClr val="C9A8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3008" y="2286000"/>
            <a:ext cx="2567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dirty="0">
                <a:solidFill>
                  <a:srgbClr val="E07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6233008" y="3429000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DRON DE PRECISIÓN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33008" y="3977640"/>
            <a:ext cx="25678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hace falta, un piloto certificado aplica solo en las zonas afectadas. Tasa variable basada en datos reales, no en cálculo a ojo.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38031" y="2286000"/>
            <a:ext cx="0" cy="3200400"/>
          </a:xfrm>
          <a:prstGeom prst="line">
            <a:avLst/>
          </a:prstGeom>
          <a:noFill/>
          <a:ln w="6350">
            <a:solidFill>
              <a:srgbClr val="C9A8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75191" y="2286000"/>
            <a:ext cx="2567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dirty="0">
                <a:solidFill>
                  <a:srgbClr val="E07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6400" dirty="0"/>
          </a:p>
        </p:txBody>
      </p:sp>
      <p:sp>
        <p:nvSpPr>
          <p:cNvPr id="18" name="Text 16"/>
          <p:cNvSpPr/>
          <p:nvPr/>
        </p:nvSpPr>
        <p:spPr>
          <a:xfrm>
            <a:off x="9075191" y="3429000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CUADERNO DIGITAL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075191" y="3977640"/>
            <a:ext cx="25678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aplicación queda registrada con firma electrónica y trazabilidad. Cumple normativa PAC sin papeleo añadido.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A8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400" kern="0" dirty="0">
                <a:solidFill>
                  <a:srgbClr val="6B6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AGROM · INTELIGENCIA AGRARIA DE PRECISIÓN · 2026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B6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agrom.es · fitolink.systemrapid.io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6B6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03 · ENTREGABLE PRINCIPAL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informe diario en su correo, a las 7 de la mañana.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31520" cy="0"/>
          </a:xfrm>
          <a:prstGeom prst="line">
            <a:avLst/>
          </a:prstGeom>
          <a:noFill/>
          <a:ln w="9525">
            <a:solidFill>
              <a:srgbClr val="C9A87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65960"/>
            <a:ext cx="5827608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40280"/>
            <a:ext cx="5827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 AgroM · Inteligencia agraria ───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5827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INFORME DE CAMPO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5827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de mayo de 2026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3154680"/>
            <a:ext cx="5278968" cy="0"/>
          </a:xfrm>
          <a:prstGeom prst="line">
            <a:avLst/>
          </a:prstGeom>
          <a:noFill/>
          <a:ln w="9525">
            <a:solidFill>
              <a:srgbClr val="C9A8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264408"/>
            <a:ext cx="5278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07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01 · ESTADO DE SUS PARCELAS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3520440"/>
            <a:ext cx="5278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de sus parcelas presenta tendencia descendente. Si se mantiene, entra en zona crítica alrededor del 22 de mayo. El resto se mantiene estable.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4361688"/>
            <a:ext cx="5278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07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02 · METEO PARA LA SEMANA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4617720"/>
            <a:ext cx="5278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Viernes y sábado: ola de calor (35-37°). Sin lluvia prevista 7 días. Riegue antes del jueves. Ventana dron apta: jueves 14h y sábado 9h.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5458968"/>
            <a:ext cx="5278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07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03 · AVISO FITOSANITARIO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5715000"/>
            <a:ext cx="5278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de polilla detectada en su zona esta semana. Severidad media. Sus parcelas en seguimiento reforzado los próximos 7 días.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24888" y="1965960"/>
            <a:ext cx="4718167" cy="0"/>
          </a:xfrm>
          <a:prstGeom prst="line">
            <a:avLst/>
          </a:prstGeom>
          <a:noFill/>
          <a:ln w="9525">
            <a:solidFill>
              <a:srgbClr val="C9A8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24888" y="2103120"/>
            <a:ext cx="47181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E07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ESTADO DE CULTIVO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24888" y="2468880"/>
            <a:ext cx="4718167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satelital semanal con proyección de cuándo entrará en zona crítica.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24888" y="3413760"/>
            <a:ext cx="4718167" cy="0"/>
          </a:xfrm>
          <a:prstGeom prst="line">
            <a:avLst/>
          </a:prstGeom>
          <a:noFill/>
          <a:ln w="9525">
            <a:solidFill>
              <a:srgbClr val="C9A8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24888" y="3550920"/>
            <a:ext cx="47181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E07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METEOROLOGÍA OPERATIVA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924888" y="3916680"/>
            <a:ext cx="4718167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ventanas reales para regar o aplicar con dron, con 7 días de antelación.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24888" y="4861560"/>
            <a:ext cx="4718167" cy="0"/>
          </a:xfrm>
          <a:prstGeom prst="line">
            <a:avLst/>
          </a:prstGeom>
          <a:noFill/>
          <a:ln w="9525">
            <a:solidFill>
              <a:srgbClr val="C9A8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24888" y="4998720"/>
            <a:ext cx="47181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E07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AVISOS DE SU COMARCA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24888" y="5364480"/>
            <a:ext cx="4718167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plagas detectadas oficialmente cerca de sus parcelas.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A87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400" kern="0" dirty="0">
                <a:solidFill>
                  <a:srgbClr val="6B6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AGROM · INTELIGENCIA AGRARIA DE PRECISIÓN · 2026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B6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agrom.es · fitolink.systemrapid.io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6B6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04 · COLABORACIÓN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Primero le demostramos el valor.</a:t>
            </a:r>
            <a:endParaRPr lang="en-US" sz="3800" dirty="0"/>
          </a:p>
          <a:p>
            <a:pPr algn="l" indent="0" marL="0">
              <a:buNone/>
            </a:pPr>
            <a:r>
              <a:rPr lang="en-US" sz="3800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Después hablamos.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Programa de validación de 60 días sin compromiso.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731520" cy="0"/>
          </a:xfrm>
          <a:prstGeom prst="line">
            <a:avLst/>
          </a:prstGeom>
          <a:noFill/>
          <a:ln w="9525">
            <a:solidFill>
              <a:srgbClr val="C9A8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246120"/>
            <a:ext cx="33933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E07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60 DÍAS INCLUIDOS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3538728"/>
            <a:ext cx="339333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completo al informe diario y al panel.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99178" y="3246120"/>
            <a:ext cx="33933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E07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APLICACIÓN A DEMANDA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99178" y="3538728"/>
            <a:ext cx="339333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Cobramos solo por la hectárea efectivamente tratada con dron.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49717" y="3246120"/>
            <a:ext cx="33933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E07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SIN PERMANENCIA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49717" y="3538728"/>
            <a:ext cx="339333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 cabo de los 60 días no le aporta valor, se cierra el ciclo sin papeleo.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5212080"/>
            <a:ext cx="11094415" cy="1005840"/>
          </a:xfrm>
          <a:prstGeom prst="rect">
            <a:avLst/>
          </a:prstGeom>
          <a:solidFill>
            <a:srgbClr val="E8DDC9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5394960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5715000"/>
            <a:ext cx="509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Coordinación operativa — Jonh Yanga Núñez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095848" y="5715000"/>
            <a:ext cx="509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Equipo técnico — AgroM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A8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400" kern="0" dirty="0">
                <a:solidFill>
                  <a:srgbClr val="6B6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AGROM · INTELIGENCIA AGRARIA DE PRECISIÓN · 2026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B6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agrom.es · fitolink.systemrapid.io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AgroM · FitoLink — Informe de Capacidades</dc:title>
  <dc:subject>PptxGenJS Presentation</dc:subject>
  <dc:creator>AgroM</dc:creator>
  <cp:lastModifiedBy>AgroM</cp:lastModifiedBy>
  <cp:revision>1</cp:revision>
  <dcterms:created xsi:type="dcterms:W3CDTF">2026-05-12T11:32:24Z</dcterms:created>
  <dcterms:modified xsi:type="dcterms:W3CDTF">2026-05-12T11:32:24Z</dcterms:modified>
</cp:coreProperties>
</file>