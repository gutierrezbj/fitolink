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Text 0"/>
          <p:cNvSpPr/>
          <p:nvPr/>
        </p:nvSpPr>
        <p:spPr>
          <a:xfrm>
            <a:off x="640080" y="548640"/>
            <a:ext cx="365760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AgroM</a:t>
            </a:r>
            <a:endParaRPr lang="en-US" sz="2600" dirty="0"/>
          </a:p>
        </p:txBody>
      </p:sp>
      <p:sp>
        <p:nvSpPr>
          <p:cNvPr id="3" name="Text 1"/>
          <p:cNvSpPr/>
          <p:nvPr/>
        </p:nvSpPr>
        <p:spPr>
          <a:xfrm>
            <a:off x="1874520" y="713232"/>
            <a:ext cx="2743200" cy="274320"/>
          </a:xfrm>
          <a:prstGeom prst="rect">
            <a:avLst/>
          </a:prstGeom>
          <a:noFill/>
          <a:ln/>
        </p:spPr>
        <p:txBody>
          <a:bodyPr wrap="square" rtlCol="0" anchor="ctr"/>
          <a:lstStyle/>
          <a:p>
            <a:pPr indent="0" marL="0">
              <a:buNone/>
            </a:pPr>
            <a:r>
              <a:rPr lang="en-US" sz="1100" spc="300" kern="0" dirty="0">
                <a:solidFill>
                  <a:srgbClr val="E07A3C"/>
                </a:solidFill>
                <a:latin typeface="Courier New" pitchFamily="34" charset="0"/>
                <a:ea typeface="Courier New" pitchFamily="34" charset="-122"/>
                <a:cs typeface="Courier New" pitchFamily="34" charset="-120"/>
              </a:rPr>
              <a:t>FITOLINK</a:t>
            </a:r>
            <a:endParaRPr lang="en-US" sz="1100" dirty="0"/>
          </a:p>
        </p:txBody>
      </p:sp>
      <p:sp>
        <p:nvSpPr>
          <p:cNvPr id="4" name="Shape 2"/>
          <p:cNvSpPr/>
          <p:nvPr/>
        </p:nvSpPr>
        <p:spPr>
          <a:xfrm>
            <a:off x="658368" y="1325880"/>
            <a:ext cx="1280160" cy="0"/>
          </a:xfrm>
          <a:prstGeom prst="line">
            <a:avLst/>
          </a:prstGeom>
          <a:noFill/>
          <a:ln w="19050">
            <a:solidFill>
              <a:srgbClr val="C9A876"/>
            </a:solidFill>
            <a:prstDash val="solid"/>
          </a:ln>
        </p:spPr>
      </p:sp>
      <p:sp>
        <p:nvSpPr>
          <p:cNvPr id="5" name="Text 3"/>
          <p:cNvSpPr/>
          <p:nvPr/>
        </p:nvSpPr>
        <p:spPr>
          <a:xfrm>
            <a:off x="640080" y="2194560"/>
            <a:ext cx="10515600" cy="91440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Las fichas de información de FitoLink</a:t>
            </a:r>
            <a:endParaRPr lang="en-US" sz="4000" dirty="0"/>
          </a:p>
        </p:txBody>
      </p:sp>
      <p:sp>
        <p:nvSpPr>
          <p:cNvPr id="6" name="Text 4"/>
          <p:cNvSpPr/>
          <p:nvPr/>
        </p:nvSpPr>
        <p:spPr>
          <a:xfrm>
            <a:off x="640080" y="3200400"/>
            <a:ext cx="10058400" cy="548640"/>
          </a:xfrm>
          <a:prstGeom prst="rect">
            <a:avLst/>
          </a:prstGeom>
          <a:noFill/>
          <a:ln/>
        </p:spPr>
        <p:txBody>
          <a:bodyPr wrap="square" rtlCol="0" anchor="ctr"/>
          <a:lstStyle/>
          <a:p>
            <a:pPr indent="0" marL="0">
              <a:buNone/>
            </a:pPr>
            <a:r>
              <a:rPr lang="en-US" sz="2200" i="1" dirty="0">
                <a:solidFill>
                  <a:srgbClr val="CFE0C8"/>
                </a:solidFill>
                <a:latin typeface="Georgia" pitchFamily="34" charset="0"/>
                <a:ea typeface="Georgia" pitchFamily="34" charset="-122"/>
                <a:cs typeface="Georgia" pitchFamily="34" charset="-120"/>
              </a:rPr>
              <a:t>Qué mide cada capa, de dónde sale y cómo se lee.</a:t>
            </a:r>
            <a:endParaRPr lang="en-US" sz="2200" dirty="0"/>
          </a:p>
        </p:txBody>
      </p:sp>
      <p:sp>
        <p:nvSpPr>
          <p:cNvPr id="7" name="Text 5"/>
          <p:cNvSpPr/>
          <p:nvPr/>
        </p:nvSpPr>
        <p:spPr>
          <a:xfrm>
            <a:off x="640080" y="5029200"/>
            <a:ext cx="10058400" cy="914400"/>
          </a:xfrm>
          <a:prstGeom prst="rect">
            <a:avLst/>
          </a:prstGeom>
          <a:noFill/>
          <a:ln/>
        </p:spPr>
        <p:txBody>
          <a:bodyPr wrap="square" rtlCol="0" anchor="ctr"/>
          <a:lstStyle/>
          <a:p>
            <a:pPr indent="0" marL="0">
              <a:spcAft>
                <a:spcPts val="600"/>
              </a:spcAft>
              <a:buNone/>
            </a:pPr>
            <a:r>
              <a:rPr lang="en-US" sz="1400" dirty="0">
                <a:solidFill>
                  <a:srgbClr val="CFE0C8"/>
                </a:solidFill>
                <a:latin typeface="Calibri" pitchFamily="34" charset="0"/>
                <a:ea typeface="Calibri" pitchFamily="34" charset="-122"/>
                <a:cs typeface="Calibri" pitchFamily="34" charset="-120"/>
              </a:rPr>
              <a:t>Documento técnico · sesión de ingeniería · 12 jun 2026</a:t>
            </a:r>
            <a:endParaRPr lang="en-US" sz="1400" dirty="0"/>
          </a:p>
          <a:p>
            <a:pPr indent="0" marL="0">
              <a:buNone/>
            </a:pPr>
            <a:r>
              <a:rPr lang="en-US" sz="1400" dirty="0">
                <a:solidFill>
                  <a:srgbClr val="CFE0C8"/>
                </a:solidFill>
                <a:latin typeface="Calibri" pitchFamily="34" charset="0"/>
                <a:ea typeface="Calibri" pitchFamily="34" charset="-122"/>
                <a:cs typeface="Calibri" pitchFamily="34" charset="-120"/>
              </a:rPr>
              <a:t>Cada dato citado está verificado contra el código fuente (sin estimaciones de marketing).</a:t>
            </a:r>
            <a:endParaRPr lang="en-US" sz="1400" dirty="0"/>
          </a:p>
        </p:txBody>
      </p:sp>
      <p:sp>
        <p:nvSpPr>
          <p:cNvPr id="8" name="Text 6"/>
          <p:cNvSpPr/>
          <p:nvPr/>
        </p:nvSpPr>
        <p:spPr>
          <a:xfrm>
            <a:off x="640080" y="6309360"/>
            <a:ext cx="5486400" cy="274320"/>
          </a:xfrm>
          <a:prstGeom prst="rect">
            <a:avLst/>
          </a:prstGeom>
          <a:noFill/>
          <a:ln/>
        </p:spPr>
        <p:txBody>
          <a:bodyPr wrap="square" rtlCol="0" anchor="ctr"/>
          <a:lstStyle/>
          <a:p>
            <a:pPr indent="0" marL="0">
              <a:buNone/>
            </a:pPr>
            <a:r>
              <a:rPr lang="en-US" sz="900" spc="200" kern="0" dirty="0">
                <a:solidFill>
                  <a:srgbClr val="C9A876"/>
                </a:solidFill>
                <a:latin typeface="Courier New" pitchFamily="34" charset="0"/>
                <a:ea typeface="Courier New" pitchFamily="34" charset="-122"/>
                <a:cs typeface="Courier New" pitchFamily="34" charset="-120"/>
              </a:rPr>
              <a:t>fitolink.agrom.es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0E8"/>
        </a:solidFill>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indent="0" marL="0">
              <a:buNone/>
            </a:pPr>
            <a:r>
              <a:rPr lang="en-US" sz="1000" spc="200" kern="0" dirty="0">
                <a:solidFill>
                  <a:srgbClr val="6B6B5C"/>
                </a:solidFill>
                <a:latin typeface="Courier New" pitchFamily="34" charset="0"/>
                <a:ea typeface="Courier New" pitchFamily="34" charset="-122"/>
                <a:cs typeface="Courier New" pitchFamily="34" charset="-120"/>
              </a:rPr>
              <a:t>§ 00 · ARQUITECTURA</a:t>
            </a:r>
            <a:endParaRPr lang="en-US" sz="1000" dirty="0"/>
          </a:p>
        </p:txBody>
      </p:sp>
      <p:sp>
        <p:nvSpPr>
          <p:cNvPr id="3" name="Text 1"/>
          <p:cNvSpPr/>
          <p:nvPr/>
        </p:nvSpPr>
        <p:spPr>
          <a:xfrm>
            <a:off x="548640" y="6446520"/>
            <a:ext cx="10972800" cy="274320"/>
          </a:xfrm>
          <a:prstGeom prst="rect">
            <a:avLst/>
          </a:prstGeom>
          <a:noFill/>
          <a:ln/>
        </p:spPr>
        <p:txBody>
          <a:bodyPr wrap="square" rtlCol="0" anchor="ctr"/>
          <a:lstStyle/>
          <a:p>
            <a:pPr indent="0" marL="0">
              <a:buNone/>
            </a:pPr>
            <a:r>
              <a:rPr lang="en-US" sz="700" spc="200" kern="0" dirty="0">
                <a:solidFill>
                  <a:srgbClr val="6B6B5C"/>
                </a:solidFill>
                <a:latin typeface="Courier New" pitchFamily="34" charset="0"/>
                <a:ea typeface="Courier New" pitchFamily="34" charset="-122"/>
                <a:cs typeface="Courier New" pitchFamily="34" charset="-120"/>
              </a:rPr>
              <a:t>AGROM · FITOLINK · INTELIGENCIA AGRARIA DE PRECISIÓN · 2026</a:t>
            </a:r>
            <a:endParaRPr lang="en-US" sz="700" dirty="0"/>
          </a:p>
        </p:txBody>
      </p:sp>
      <p:sp>
        <p:nvSpPr>
          <p:cNvPr id="4" name="Text 2"/>
          <p:cNvSpPr/>
          <p:nvPr/>
        </p:nvSpPr>
        <p:spPr>
          <a:xfrm>
            <a:off x="548640" y="685800"/>
            <a:ext cx="10972800" cy="640080"/>
          </a:xfrm>
          <a:prstGeom prst="rect">
            <a:avLst/>
          </a:prstGeom>
          <a:noFill/>
          <a:ln/>
        </p:spPr>
        <p:txBody>
          <a:bodyPr wrap="square" rtlCol="0" anchor="ctr"/>
          <a:lstStyle/>
          <a:p>
            <a:pPr indent="0" marL="0">
              <a:buNone/>
            </a:pPr>
            <a:r>
              <a:rPr lang="en-US" sz="3000" b="1" dirty="0">
                <a:solidFill>
                  <a:srgbClr val="1B4332"/>
                </a:solidFill>
                <a:latin typeface="Georgia" pitchFamily="34" charset="0"/>
                <a:ea typeface="Georgia" pitchFamily="34" charset="-122"/>
                <a:cs typeface="Georgia" pitchFamily="34" charset="-120"/>
              </a:rPr>
              <a:t>Nueve fuentes públicas, una parcela</a:t>
            </a:r>
            <a:endParaRPr lang="en-US" sz="3000" dirty="0"/>
          </a:p>
        </p:txBody>
      </p:sp>
      <p:sp>
        <p:nvSpPr>
          <p:cNvPr id="5" name="Shape 3"/>
          <p:cNvSpPr/>
          <p:nvPr/>
        </p:nvSpPr>
        <p:spPr>
          <a:xfrm>
            <a:off x="548640" y="1371600"/>
            <a:ext cx="1005840" cy="0"/>
          </a:xfrm>
          <a:prstGeom prst="line">
            <a:avLst/>
          </a:prstGeom>
          <a:noFill/>
          <a:ln w="19050">
            <a:solidFill>
              <a:srgbClr val="C9A876"/>
            </a:solidFill>
            <a:prstDash val="solid"/>
          </a:ln>
        </p:spPr>
      </p:sp>
      <p:sp>
        <p:nvSpPr>
          <p:cNvPr id="6" name="Text 4"/>
          <p:cNvSpPr/>
          <p:nvPr/>
        </p:nvSpPr>
        <p:spPr>
          <a:xfrm>
            <a:off x="548640" y="1508760"/>
            <a:ext cx="11064240" cy="548640"/>
          </a:xfrm>
          <a:prstGeom prst="rect">
            <a:avLst/>
          </a:prstGeom>
          <a:noFill/>
          <a:ln/>
        </p:spPr>
        <p:txBody>
          <a:bodyPr wrap="square" rtlCol="0" anchor="ctr"/>
          <a:lstStyle/>
          <a:p>
            <a:pPr indent="0" marL="0">
              <a:buNone/>
            </a:pPr>
            <a:r>
              <a:rPr lang="en-US" sz="1300" dirty="0">
                <a:solidFill>
                  <a:srgbClr val="6B6B5C"/>
                </a:solidFill>
                <a:latin typeface="Calibri" pitchFamily="34" charset="0"/>
                <a:ea typeface="Calibri" pitchFamily="34" charset="-122"/>
                <a:cs typeface="Calibri" pitchFamily="34" charset="-120"/>
              </a:rPr>
              <a:t>Todo el cómputo pesado vive en infraestructuras públicas (Copernicus, Microsoft Planetary Computer, NASA, ISRIC, Open-Meteo). El servidor de FitoLink orquesta, cruza y sirve — no procesa imágenes.</a:t>
            </a:r>
            <a:endParaRPr lang="en-US" sz="1300" dirty="0"/>
          </a:p>
        </p:txBody>
      </p:sp>
      <p:sp>
        <p:nvSpPr>
          <p:cNvPr id="7" name="Shape 5"/>
          <p:cNvSpPr/>
          <p:nvPr/>
        </p:nvSpPr>
        <p:spPr>
          <a:xfrm>
            <a:off x="548640" y="2148840"/>
            <a:ext cx="2743200" cy="1143000"/>
          </a:xfrm>
          <a:prstGeom prst="roundRect">
            <a:avLst>
              <a:gd name="adj" fmla="val 4000"/>
            </a:avLst>
          </a:prstGeom>
          <a:solidFill>
            <a:srgbClr val="FFFFFF"/>
          </a:solidFill>
          <a:ln w="9525">
            <a:solidFill>
              <a:srgbClr val="C9A876"/>
            </a:solidFill>
            <a:prstDash val="solid"/>
          </a:ln>
        </p:spPr>
      </p:sp>
      <p:sp>
        <p:nvSpPr>
          <p:cNvPr id="8" name="Text 6"/>
          <p:cNvSpPr/>
          <p:nvPr/>
        </p:nvSpPr>
        <p:spPr>
          <a:xfrm>
            <a:off x="713232" y="2258568"/>
            <a:ext cx="246888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SATÉLITE ÓPTICO</a:t>
            </a:r>
            <a:endParaRPr lang="en-US" sz="900" dirty="0"/>
          </a:p>
        </p:txBody>
      </p:sp>
      <p:sp>
        <p:nvSpPr>
          <p:cNvPr id="9" name="Text 7"/>
          <p:cNvSpPr/>
          <p:nvPr/>
        </p:nvSpPr>
        <p:spPr>
          <a:xfrm>
            <a:off x="713232" y="2569464"/>
            <a:ext cx="2414016" cy="612648"/>
          </a:xfrm>
          <a:prstGeom prst="rect">
            <a:avLst/>
          </a:prstGeom>
          <a:noFill/>
          <a:ln/>
        </p:spPr>
        <p:txBody>
          <a:bodyPr wrap="square" rtlCol="0" anchor="t"/>
          <a:lstStyle/>
          <a:p>
            <a:pPr indent="0" marL="0">
              <a:spcAft>
                <a:spcPts val="400"/>
              </a:spcAft>
              <a:buNone/>
            </a:pPr>
            <a:r>
              <a:rPr lang="en-US" sz="1200" b="1" dirty="0">
                <a:solidFill>
                  <a:srgbClr val="0F2A22"/>
                </a:solidFill>
                <a:latin typeface="Calibri" pitchFamily="34" charset="0"/>
                <a:ea typeface="Calibri" pitchFamily="34" charset="-122"/>
                <a:cs typeface="Calibri" pitchFamily="34" charset="-120"/>
              </a:rPr>
              <a:t>Sentinel-2 L2A · Copernicus (openEO)</a:t>
            </a:r>
            <a:endParaRPr lang="en-US" sz="1200" dirty="0"/>
          </a:p>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5 índices · 10 m · revisita ~5 d</a:t>
            </a:r>
            <a:endParaRPr lang="en-US" sz="1200" dirty="0"/>
          </a:p>
        </p:txBody>
      </p:sp>
      <p:sp>
        <p:nvSpPr>
          <p:cNvPr id="10" name="Shape 8"/>
          <p:cNvSpPr/>
          <p:nvPr/>
        </p:nvSpPr>
        <p:spPr>
          <a:xfrm>
            <a:off x="3456432" y="2148840"/>
            <a:ext cx="2743200" cy="1143000"/>
          </a:xfrm>
          <a:prstGeom prst="roundRect">
            <a:avLst>
              <a:gd name="adj" fmla="val 4000"/>
            </a:avLst>
          </a:prstGeom>
          <a:solidFill>
            <a:srgbClr val="FFFFFF"/>
          </a:solidFill>
          <a:ln w="9525">
            <a:solidFill>
              <a:srgbClr val="C9A876"/>
            </a:solidFill>
            <a:prstDash val="solid"/>
          </a:ln>
        </p:spPr>
      </p:sp>
      <p:sp>
        <p:nvSpPr>
          <p:cNvPr id="11" name="Text 9"/>
          <p:cNvSpPr/>
          <p:nvPr/>
        </p:nvSpPr>
        <p:spPr>
          <a:xfrm>
            <a:off x="3621024" y="2258568"/>
            <a:ext cx="246888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SATÉLITE TÉRMICO</a:t>
            </a:r>
            <a:endParaRPr lang="en-US" sz="900" dirty="0"/>
          </a:p>
        </p:txBody>
      </p:sp>
      <p:sp>
        <p:nvSpPr>
          <p:cNvPr id="12" name="Text 10"/>
          <p:cNvSpPr/>
          <p:nvPr/>
        </p:nvSpPr>
        <p:spPr>
          <a:xfrm>
            <a:off x="3621024" y="2569464"/>
            <a:ext cx="2414016" cy="612648"/>
          </a:xfrm>
          <a:prstGeom prst="rect">
            <a:avLst/>
          </a:prstGeom>
          <a:noFill/>
          <a:ln/>
        </p:spPr>
        <p:txBody>
          <a:bodyPr wrap="square" rtlCol="0" anchor="t"/>
          <a:lstStyle/>
          <a:p>
            <a:pPr indent="0" marL="0">
              <a:spcAft>
                <a:spcPts val="400"/>
              </a:spcAft>
              <a:buNone/>
            </a:pPr>
            <a:r>
              <a:rPr lang="en-US" sz="1200" b="1" dirty="0">
                <a:solidFill>
                  <a:srgbClr val="0F2A22"/>
                </a:solidFill>
                <a:latin typeface="Calibri" pitchFamily="34" charset="0"/>
                <a:ea typeface="Calibri" pitchFamily="34" charset="-122"/>
                <a:cs typeface="Calibri" pitchFamily="34" charset="-120"/>
              </a:rPr>
              <a:t>Landsat 8/9 C2 · MS Planetary Computer</a:t>
            </a:r>
            <a:endParaRPr lang="en-US" sz="1200" dirty="0"/>
          </a:p>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LST superficie · 30 m · ~8 d</a:t>
            </a:r>
            <a:endParaRPr lang="en-US" sz="1200" dirty="0"/>
          </a:p>
        </p:txBody>
      </p:sp>
      <p:sp>
        <p:nvSpPr>
          <p:cNvPr id="13" name="Shape 11"/>
          <p:cNvSpPr/>
          <p:nvPr/>
        </p:nvSpPr>
        <p:spPr>
          <a:xfrm>
            <a:off x="6364224" y="2148840"/>
            <a:ext cx="2743200" cy="1143000"/>
          </a:xfrm>
          <a:prstGeom prst="roundRect">
            <a:avLst>
              <a:gd name="adj" fmla="val 4000"/>
            </a:avLst>
          </a:prstGeom>
          <a:solidFill>
            <a:srgbClr val="FFFFFF"/>
          </a:solidFill>
          <a:ln w="9525">
            <a:solidFill>
              <a:srgbClr val="C9A876"/>
            </a:solidFill>
            <a:prstDash val="solid"/>
          </a:ln>
        </p:spPr>
      </p:sp>
      <p:sp>
        <p:nvSpPr>
          <p:cNvPr id="14" name="Text 12"/>
          <p:cNvSpPr/>
          <p:nvPr/>
        </p:nvSpPr>
        <p:spPr>
          <a:xfrm>
            <a:off x="6528816" y="2258568"/>
            <a:ext cx="246888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CLIMA</a:t>
            </a:r>
            <a:endParaRPr lang="en-US" sz="900" dirty="0"/>
          </a:p>
        </p:txBody>
      </p:sp>
      <p:sp>
        <p:nvSpPr>
          <p:cNvPr id="15" name="Text 13"/>
          <p:cNvSpPr/>
          <p:nvPr/>
        </p:nvSpPr>
        <p:spPr>
          <a:xfrm>
            <a:off x="6528816" y="2569464"/>
            <a:ext cx="2414016" cy="612648"/>
          </a:xfrm>
          <a:prstGeom prst="rect">
            <a:avLst/>
          </a:prstGeom>
          <a:noFill/>
          <a:ln/>
        </p:spPr>
        <p:txBody>
          <a:bodyPr wrap="square" rtlCol="0" anchor="t"/>
          <a:lstStyle/>
          <a:p>
            <a:pPr indent="0" marL="0">
              <a:spcAft>
                <a:spcPts val="400"/>
              </a:spcAft>
              <a:buNone/>
            </a:pPr>
            <a:r>
              <a:rPr lang="en-US" sz="1200" b="1" dirty="0">
                <a:solidFill>
                  <a:srgbClr val="0F2A22"/>
                </a:solidFill>
                <a:latin typeface="Calibri" pitchFamily="34" charset="0"/>
                <a:ea typeface="Calibri" pitchFamily="34" charset="-122"/>
                <a:cs typeface="Calibri" pitchFamily="34" charset="-120"/>
              </a:rPr>
              <a:t>ERA5 (Open-Meteo Archive)</a:t>
            </a:r>
            <a:endParaRPr lang="en-US" sz="1200" dirty="0"/>
          </a:p>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Baseline 30 años + 30 d recientes</a:t>
            </a:r>
            <a:endParaRPr lang="en-US" sz="1200" dirty="0"/>
          </a:p>
        </p:txBody>
      </p:sp>
      <p:sp>
        <p:nvSpPr>
          <p:cNvPr id="16" name="Shape 14"/>
          <p:cNvSpPr/>
          <p:nvPr/>
        </p:nvSpPr>
        <p:spPr>
          <a:xfrm>
            <a:off x="9272016" y="2148840"/>
            <a:ext cx="2743200" cy="1143000"/>
          </a:xfrm>
          <a:prstGeom prst="roundRect">
            <a:avLst>
              <a:gd name="adj" fmla="val 4000"/>
            </a:avLst>
          </a:prstGeom>
          <a:solidFill>
            <a:srgbClr val="FFFFFF"/>
          </a:solidFill>
          <a:ln w="9525">
            <a:solidFill>
              <a:srgbClr val="C9A876"/>
            </a:solidFill>
            <a:prstDash val="solid"/>
          </a:ln>
        </p:spPr>
      </p:sp>
      <p:sp>
        <p:nvSpPr>
          <p:cNvPr id="17" name="Text 15"/>
          <p:cNvSpPr/>
          <p:nvPr/>
        </p:nvSpPr>
        <p:spPr>
          <a:xfrm>
            <a:off x="9436608" y="2258568"/>
            <a:ext cx="246888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SUELO</a:t>
            </a:r>
            <a:endParaRPr lang="en-US" sz="900" dirty="0"/>
          </a:p>
        </p:txBody>
      </p:sp>
      <p:sp>
        <p:nvSpPr>
          <p:cNvPr id="18" name="Text 16"/>
          <p:cNvSpPr/>
          <p:nvPr/>
        </p:nvSpPr>
        <p:spPr>
          <a:xfrm>
            <a:off x="9436608" y="2569464"/>
            <a:ext cx="2414016" cy="612648"/>
          </a:xfrm>
          <a:prstGeom prst="rect">
            <a:avLst/>
          </a:prstGeom>
          <a:noFill/>
          <a:ln/>
        </p:spPr>
        <p:txBody>
          <a:bodyPr wrap="square" rtlCol="0" anchor="t"/>
          <a:lstStyle/>
          <a:p>
            <a:pPr indent="0" marL="0">
              <a:spcAft>
                <a:spcPts val="400"/>
              </a:spcAft>
              <a:buNone/>
            </a:pPr>
            <a:r>
              <a:rPr lang="en-US" sz="1200" b="1" dirty="0">
                <a:solidFill>
                  <a:srgbClr val="0F2A22"/>
                </a:solidFill>
                <a:latin typeface="Calibri" pitchFamily="34" charset="0"/>
                <a:ea typeface="Calibri" pitchFamily="34" charset="-122"/>
                <a:cs typeface="Calibri" pitchFamily="34" charset="-120"/>
              </a:rPr>
              <a:t>SoilGrids v2 · ISRIC</a:t>
            </a:r>
            <a:endParaRPr lang="en-US" sz="1200" dirty="0"/>
          </a:p>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Textura + agua útil · 250 m · 0-30 cm</a:t>
            </a:r>
            <a:endParaRPr lang="en-US" sz="1200" dirty="0"/>
          </a:p>
        </p:txBody>
      </p:sp>
      <p:sp>
        <p:nvSpPr>
          <p:cNvPr id="19" name="Shape 17"/>
          <p:cNvSpPr/>
          <p:nvPr/>
        </p:nvSpPr>
        <p:spPr>
          <a:xfrm>
            <a:off x="548640" y="3474720"/>
            <a:ext cx="2743200" cy="1143000"/>
          </a:xfrm>
          <a:prstGeom prst="roundRect">
            <a:avLst>
              <a:gd name="adj" fmla="val 4000"/>
            </a:avLst>
          </a:prstGeom>
          <a:solidFill>
            <a:srgbClr val="FFFFFF"/>
          </a:solidFill>
          <a:ln w="9525">
            <a:solidFill>
              <a:srgbClr val="C9A876"/>
            </a:solidFill>
            <a:prstDash val="solid"/>
          </a:ln>
        </p:spPr>
      </p:sp>
      <p:sp>
        <p:nvSpPr>
          <p:cNvPr id="20" name="Text 18"/>
          <p:cNvSpPr/>
          <p:nvPr/>
        </p:nvSpPr>
        <p:spPr>
          <a:xfrm>
            <a:off x="713232" y="3584448"/>
            <a:ext cx="246888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FUEGO</a:t>
            </a:r>
            <a:endParaRPr lang="en-US" sz="900" dirty="0"/>
          </a:p>
        </p:txBody>
      </p:sp>
      <p:sp>
        <p:nvSpPr>
          <p:cNvPr id="21" name="Text 19"/>
          <p:cNvSpPr/>
          <p:nvPr/>
        </p:nvSpPr>
        <p:spPr>
          <a:xfrm>
            <a:off x="713232" y="3895344"/>
            <a:ext cx="2414016" cy="612648"/>
          </a:xfrm>
          <a:prstGeom prst="rect">
            <a:avLst/>
          </a:prstGeom>
          <a:noFill/>
          <a:ln/>
        </p:spPr>
        <p:txBody>
          <a:bodyPr wrap="square" rtlCol="0" anchor="t"/>
          <a:lstStyle/>
          <a:p>
            <a:pPr indent="0" marL="0">
              <a:spcAft>
                <a:spcPts val="400"/>
              </a:spcAft>
              <a:buNone/>
            </a:pPr>
            <a:r>
              <a:rPr lang="en-US" sz="1200" b="1" dirty="0">
                <a:solidFill>
                  <a:srgbClr val="0F2A22"/>
                </a:solidFill>
                <a:latin typeface="Calibri" pitchFamily="34" charset="0"/>
                <a:ea typeface="Calibri" pitchFamily="34" charset="-122"/>
                <a:cs typeface="Calibri" pitchFamily="34" charset="-120"/>
              </a:rPr>
              <a:t>VIIRS · NASA FIRMS</a:t>
            </a:r>
            <a:endParaRPr lang="en-US" sz="1200" dirty="0"/>
          </a:p>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Focos térmicos · 375 m · radio 25 km</a:t>
            </a:r>
            <a:endParaRPr lang="en-US" sz="1200" dirty="0"/>
          </a:p>
        </p:txBody>
      </p:sp>
      <p:sp>
        <p:nvSpPr>
          <p:cNvPr id="22" name="Shape 20"/>
          <p:cNvSpPr/>
          <p:nvPr/>
        </p:nvSpPr>
        <p:spPr>
          <a:xfrm>
            <a:off x="3456432" y="3474720"/>
            <a:ext cx="2743200" cy="1143000"/>
          </a:xfrm>
          <a:prstGeom prst="roundRect">
            <a:avLst>
              <a:gd name="adj" fmla="val 4000"/>
            </a:avLst>
          </a:prstGeom>
          <a:solidFill>
            <a:srgbClr val="FFFFFF"/>
          </a:solidFill>
          <a:ln w="9525">
            <a:solidFill>
              <a:srgbClr val="C9A876"/>
            </a:solidFill>
            <a:prstDash val="solid"/>
          </a:ln>
        </p:spPr>
      </p:sp>
      <p:sp>
        <p:nvSpPr>
          <p:cNvPr id="23" name="Text 21"/>
          <p:cNvSpPr/>
          <p:nvPr/>
        </p:nvSpPr>
        <p:spPr>
          <a:xfrm>
            <a:off x="3621024" y="3584448"/>
            <a:ext cx="246888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METEO OPERATIVA</a:t>
            </a:r>
            <a:endParaRPr lang="en-US" sz="900" dirty="0"/>
          </a:p>
        </p:txBody>
      </p:sp>
      <p:sp>
        <p:nvSpPr>
          <p:cNvPr id="24" name="Text 22"/>
          <p:cNvSpPr/>
          <p:nvPr/>
        </p:nvSpPr>
        <p:spPr>
          <a:xfrm>
            <a:off x="3621024" y="3895344"/>
            <a:ext cx="2414016" cy="612648"/>
          </a:xfrm>
          <a:prstGeom prst="rect">
            <a:avLst/>
          </a:prstGeom>
          <a:noFill/>
          <a:ln/>
        </p:spPr>
        <p:txBody>
          <a:bodyPr wrap="square" rtlCol="0" anchor="t"/>
          <a:lstStyle/>
          <a:p>
            <a:pPr indent="0" marL="0">
              <a:spcAft>
                <a:spcPts val="400"/>
              </a:spcAft>
              <a:buNone/>
            </a:pPr>
            <a:r>
              <a:rPr lang="en-US" sz="1200" b="1" dirty="0">
                <a:solidFill>
                  <a:srgbClr val="0F2A22"/>
                </a:solidFill>
                <a:latin typeface="Calibri" pitchFamily="34" charset="0"/>
                <a:ea typeface="Calibri" pitchFamily="34" charset="-122"/>
                <a:cs typeface="Calibri" pitchFamily="34" charset="-120"/>
              </a:rPr>
              <a:t>ECMWF (Open-Meteo Forecast)</a:t>
            </a:r>
            <a:endParaRPr lang="en-US" sz="1200" dirty="0"/>
          </a:p>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Semáforo de aplicación 7 d</a:t>
            </a:r>
            <a:endParaRPr lang="en-US" sz="1200" dirty="0"/>
          </a:p>
        </p:txBody>
      </p:sp>
      <p:sp>
        <p:nvSpPr>
          <p:cNvPr id="25" name="Shape 23"/>
          <p:cNvSpPr/>
          <p:nvPr/>
        </p:nvSpPr>
        <p:spPr>
          <a:xfrm>
            <a:off x="6364224" y="3474720"/>
            <a:ext cx="2743200" cy="1143000"/>
          </a:xfrm>
          <a:prstGeom prst="roundRect">
            <a:avLst>
              <a:gd name="adj" fmla="val 4000"/>
            </a:avLst>
          </a:prstGeom>
          <a:solidFill>
            <a:srgbClr val="FFFFFF"/>
          </a:solidFill>
          <a:ln w="9525">
            <a:solidFill>
              <a:srgbClr val="C9A876"/>
            </a:solidFill>
            <a:prstDash val="solid"/>
          </a:ln>
        </p:spPr>
      </p:sp>
      <p:sp>
        <p:nvSpPr>
          <p:cNvPr id="26" name="Text 24"/>
          <p:cNvSpPr/>
          <p:nvPr/>
        </p:nvSpPr>
        <p:spPr>
          <a:xfrm>
            <a:off x="6528816" y="3584448"/>
            <a:ext cx="246888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FITOSANITARIO</a:t>
            </a:r>
            <a:endParaRPr lang="en-US" sz="900" dirty="0"/>
          </a:p>
        </p:txBody>
      </p:sp>
      <p:sp>
        <p:nvSpPr>
          <p:cNvPr id="27" name="Text 25"/>
          <p:cNvSpPr/>
          <p:nvPr/>
        </p:nvSpPr>
        <p:spPr>
          <a:xfrm>
            <a:off x="6528816" y="3895344"/>
            <a:ext cx="2414016" cy="612648"/>
          </a:xfrm>
          <a:prstGeom prst="rect">
            <a:avLst/>
          </a:prstGeom>
          <a:noFill/>
          <a:ln/>
        </p:spPr>
        <p:txBody>
          <a:bodyPr wrap="square" rtlCol="0" anchor="t"/>
          <a:lstStyle/>
          <a:p>
            <a:pPr indent="0" marL="0">
              <a:spcAft>
                <a:spcPts val="400"/>
              </a:spcAft>
              <a:buNone/>
            </a:pPr>
            <a:r>
              <a:rPr lang="en-US" sz="1200" b="1" dirty="0">
                <a:solidFill>
                  <a:srgbClr val="0F2A22"/>
                </a:solidFill>
                <a:latin typeface="Calibri" pitchFamily="34" charset="0"/>
                <a:ea typeface="Calibri" pitchFamily="34" charset="-122"/>
                <a:cs typeface="Calibri" pitchFamily="34" charset="-120"/>
              </a:rPr>
              <a:t>RAIF · DARP · IVIA · IMIDA · ITACYL</a:t>
            </a:r>
            <a:endParaRPr lang="en-US" sz="1200" dirty="0"/>
          </a:p>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5 boletines oficiales · 5 CC.AA.</a:t>
            </a:r>
            <a:endParaRPr lang="en-US" sz="1200" dirty="0"/>
          </a:p>
        </p:txBody>
      </p:sp>
      <p:sp>
        <p:nvSpPr>
          <p:cNvPr id="28" name="Shape 26"/>
          <p:cNvSpPr/>
          <p:nvPr/>
        </p:nvSpPr>
        <p:spPr>
          <a:xfrm>
            <a:off x="9272016" y="3474720"/>
            <a:ext cx="2743200" cy="1143000"/>
          </a:xfrm>
          <a:prstGeom prst="roundRect">
            <a:avLst>
              <a:gd name="adj" fmla="val 4000"/>
            </a:avLst>
          </a:prstGeom>
          <a:solidFill>
            <a:srgbClr val="FFFFFF"/>
          </a:solidFill>
          <a:ln w="9525">
            <a:solidFill>
              <a:srgbClr val="C9A876"/>
            </a:solidFill>
            <a:prstDash val="solid"/>
          </a:ln>
        </p:spPr>
      </p:sp>
      <p:sp>
        <p:nvSpPr>
          <p:cNvPr id="29" name="Text 27"/>
          <p:cNvSpPr/>
          <p:nvPr/>
        </p:nvSpPr>
        <p:spPr>
          <a:xfrm>
            <a:off x="9436608" y="3584448"/>
            <a:ext cx="246888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CATASTRO</a:t>
            </a:r>
            <a:endParaRPr lang="en-US" sz="900" dirty="0"/>
          </a:p>
        </p:txBody>
      </p:sp>
      <p:sp>
        <p:nvSpPr>
          <p:cNvPr id="30" name="Text 28"/>
          <p:cNvSpPr/>
          <p:nvPr/>
        </p:nvSpPr>
        <p:spPr>
          <a:xfrm>
            <a:off x="9436608" y="3895344"/>
            <a:ext cx="2414016" cy="612648"/>
          </a:xfrm>
          <a:prstGeom prst="rect">
            <a:avLst/>
          </a:prstGeom>
          <a:noFill/>
          <a:ln/>
        </p:spPr>
        <p:txBody>
          <a:bodyPr wrap="square" rtlCol="0" anchor="t"/>
          <a:lstStyle/>
          <a:p>
            <a:pPr indent="0" marL="0">
              <a:spcAft>
                <a:spcPts val="400"/>
              </a:spcAft>
              <a:buNone/>
            </a:pPr>
            <a:r>
              <a:rPr lang="en-US" sz="1200" b="1" dirty="0">
                <a:solidFill>
                  <a:srgbClr val="0F2A22"/>
                </a:solidFill>
                <a:latin typeface="Calibri" pitchFamily="34" charset="0"/>
                <a:ea typeface="Calibri" pitchFamily="34" charset="-122"/>
                <a:cs typeface="Calibri" pitchFamily="34" charset="-120"/>
              </a:rPr>
              <a:t>SIGPAC · MAPA</a:t>
            </a:r>
            <a:endParaRPr lang="en-US" sz="1200" dirty="0"/>
          </a:p>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Geometría de parcela real</a:t>
            </a:r>
            <a:endParaRPr lang="en-US" sz="1200" dirty="0"/>
          </a:p>
        </p:txBody>
      </p:sp>
      <p:sp>
        <p:nvSpPr>
          <p:cNvPr id="31" name="Text 29"/>
          <p:cNvSpPr/>
          <p:nvPr/>
        </p:nvSpPr>
        <p:spPr>
          <a:xfrm>
            <a:off x="548640" y="5166360"/>
            <a:ext cx="10972800" cy="365760"/>
          </a:xfrm>
          <a:prstGeom prst="rect">
            <a:avLst/>
          </a:prstGeom>
          <a:noFill/>
          <a:ln/>
        </p:spPr>
        <p:txBody>
          <a:bodyPr wrap="square" rtlCol="0" anchor="ctr"/>
          <a:lstStyle/>
          <a:p>
            <a:pPr indent="0" marL="0">
              <a:buNone/>
            </a:pPr>
            <a:r>
              <a:rPr lang="en-US" sz="1300" b="1" i="1" dirty="0">
                <a:solidFill>
                  <a:srgbClr val="1B4332"/>
                </a:solidFill>
                <a:latin typeface="Calibri" pitchFamily="34" charset="0"/>
                <a:ea typeface="Calibri" pitchFamily="34" charset="-122"/>
                <a:cs typeface="Calibri" pitchFamily="34" charset="-120"/>
              </a:rPr>
              <a:t>→ El cruce de estas capas sobre la misma geometría es lo que ningún visor oficial aislado ofrece.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0E8"/>
        </a:solidFill>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indent="0" marL="0">
              <a:buNone/>
            </a:pPr>
            <a:r>
              <a:rPr lang="en-US" sz="1000" spc="200" kern="0" dirty="0">
                <a:solidFill>
                  <a:srgbClr val="6B6B5C"/>
                </a:solidFill>
                <a:latin typeface="Courier New" pitchFamily="34" charset="0"/>
                <a:ea typeface="Courier New" pitchFamily="34" charset="-122"/>
                <a:cs typeface="Courier New" pitchFamily="34" charset="-120"/>
              </a:rPr>
              <a:t>§ 01 · ÍNDICES ESPECTRALES — SENTINEL-2</a:t>
            </a:r>
            <a:endParaRPr lang="en-US" sz="1000" dirty="0"/>
          </a:p>
        </p:txBody>
      </p:sp>
      <p:sp>
        <p:nvSpPr>
          <p:cNvPr id="3" name="Text 1"/>
          <p:cNvSpPr/>
          <p:nvPr/>
        </p:nvSpPr>
        <p:spPr>
          <a:xfrm>
            <a:off x="548640" y="6446520"/>
            <a:ext cx="10972800" cy="274320"/>
          </a:xfrm>
          <a:prstGeom prst="rect">
            <a:avLst/>
          </a:prstGeom>
          <a:noFill/>
          <a:ln/>
        </p:spPr>
        <p:txBody>
          <a:bodyPr wrap="square" rtlCol="0" anchor="ctr"/>
          <a:lstStyle/>
          <a:p>
            <a:pPr indent="0" marL="0">
              <a:buNone/>
            </a:pPr>
            <a:r>
              <a:rPr lang="en-US" sz="700" spc="200" kern="0" dirty="0">
                <a:solidFill>
                  <a:srgbClr val="6B6B5C"/>
                </a:solidFill>
                <a:latin typeface="Courier New" pitchFamily="34" charset="0"/>
                <a:ea typeface="Courier New" pitchFamily="34" charset="-122"/>
                <a:cs typeface="Courier New" pitchFamily="34" charset="-120"/>
              </a:rPr>
              <a:t>AGROM · FITOLINK · INTELIGENCIA AGRARIA DE PRECISIÓN · 2026</a:t>
            </a:r>
            <a:endParaRPr lang="en-US" sz="700" dirty="0"/>
          </a:p>
        </p:txBody>
      </p:sp>
      <p:sp>
        <p:nvSpPr>
          <p:cNvPr id="4" name="Text 2"/>
          <p:cNvSpPr/>
          <p:nvPr/>
        </p:nvSpPr>
        <p:spPr>
          <a:xfrm>
            <a:off x="548640" y="685800"/>
            <a:ext cx="10972800" cy="640080"/>
          </a:xfrm>
          <a:prstGeom prst="rect">
            <a:avLst/>
          </a:prstGeom>
          <a:noFill/>
          <a:ln/>
        </p:spPr>
        <p:txBody>
          <a:bodyPr wrap="square" rtlCol="0" anchor="ctr"/>
          <a:lstStyle/>
          <a:p>
            <a:pPr indent="0" marL="0">
              <a:buNone/>
            </a:pPr>
            <a:r>
              <a:rPr lang="en-US" sz="2800" b="1" dirty="0">
                <a:solidFill>
                  <a:srgbClr val="1B4332"/>
                </a:solidFill>
                <a:latin typeface="Georgia" pitchFamily="34" charset="0"/>
                <a:ea typeface="Georgia" pitchFamily="34" charset="-122"/>
                <a:cs typeface="Georgia" pitchFamily="34" charset="-120"/>
              </a:rPr>
              <a:t>Cinco índices, cada uno mira algo distinto</a:t>
            </a:r>
            <a:endParaRPr lang="en-US" sz="2800" dirty="0"/>
          </a:p>
        </p:txBody>
      </p:sp>
      <p:sp>
        <p:nvSpPr>
          <p:cNvPr id="5" name="Shape 3"/>
          <p:cNvSpPr/>
          <p:nvPr/>
        </p:nvSpPr>
        <p:spPr>
          <a:xfrm>
            <a:off x="548640" y="1371600"/>
            <a:ext cx="1005840" cy="0"/>
          </a:xfrm>
          <a:prstGeom prst="line">
            <a:avLst/>
          </a:prstGeom>
          <a:noFill/>
          <a:ln w="19050">
            <a:solidFill>
              <a:srgbClr val="C9A876"/>
            </a:solidFill>
            <a:prstDash val="solid"/>
          </a:ln>
        </p:spPr>
      </p:sp>
      <p:sp>
        <p:nvSpPr>
          <p:cNvPr id="6" name="Shape 4"/>
          <p:cNvSpPr/>
          <p:nvPr/>
        </p:nvSpPr>
        <p:spPr>
          <a:xfrm>
            <a:off x="548640" y="1554480"/>
            <a:ext cx="5532120" cy="2331720"/>
          </a:xfrm>
          <a:prstGeom prst="roundRect">
            <a:avLst>
              <a:gd name="adj" fmla="val 1961"/>
            </a:avLst>
          </a:prstGeom>
          <a:solidFill>
            <a:srgbClr val="FFFFFF"/>
          </a:solidFill>
          <a:ln w="9525">
            <a:solidFill>
              <a:srgbClr val="C9A876"/>
            </a:solidFill>
            <a:prstDash val="solid"/>
          </a:ln>
        </p:spPr>
      </p:sp>
      <p:sp>
        <p:nvSpPr>
          <p:cNvPr id="7" name="Text 5"/>
          <p:cNvSpPr/>
          <p:nvPr/>
        </p:nvSpPr>
        <p:spPr>
          <a:xfrm>
            <a:off x="713232" y="1664208"/>
            <a:ext cx="525780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FÓRMULAS (ÁLGEBRA DE BANDAS, openeo_client.py)</a:t>
            </a:r>
            <a:endParaRPr lang="en-US" sz="900" dirty="0"/>
          </a:p>
        </p:txBody>
      </p:sp>
      <p:sp>
        <p:nvSpPr>
          <p:cNvPr id="8" name="Text 6"/>
          <p:cNvSpPr/>
          <p:nvPr/>
        </p:nvSpPr>
        <p:spPr>
          <a:xfrm>
            <a:off x="713232" y="1975104"/>
            <a:ext cx="5202936" cy="1801368"/>
          </a:xfrm>
          <a:prstGeom prst="rect">
            <a:avLst/>
          </a:prstGeom>
          <a:noFill/>
          <a:ln/>
        </p:spPr>
        <p:txBody>
          <a:bodyPr wrap="square" rtlCol="0" anchor="t"/>
          <a:lstStyle/>
          <a:p>
            <a:pPr indent="0" marL="0">
              <a:spcAft>
                <a:spcPts val="400"/>
              </a:spcAft>
              <a:buNone/>
            </a:pPr>
            <a:r>
              <a:rPr lang="en-US" sz="1250" b="1" dirty="0">
                <a:solidFill>
                  <a:srgbClr val="0F2A22"/>
                </a:solidFill>
                <a:latin typeface="Courier New" pitchFamily="34" charset="0"/>
                <a:ea typeface="Courier New" pitchFamily="34" charset="-122"/>
                <a:cs typeface="Courier New" pitchFamily="34" charset="-120"/>
              </a:rPr>
              <a:t>NDVI = (B08 − B04) / (B08 + B04)</a:t>
            </a:r>
            <a:endParaRPr lang="en-US" sz="1250" dirty="0"/>
          </a:p>
          <a:p>
            <a:pPr indent="0" marL="0">
              <a:spcAft>
                <a:spcPts val="400"/>
              </a:spcAft>
              <a:buNone/>
            </a:pPr>
            <a:r>
              <a:rPr lang="en-US" sz="1250" b="1" dirty="0">
                <a:solidFill>
                  <a:srgbClr val="0F2A22"/>
                </a:solidFill>
                <a:latin typeface="Courier New" pitchFamily="34" charset="0"/>
                <a:ea typeface="Courier New" pitchFamily="34" charset="-122"/>
                <a:cs typeface="Courier New" pitchFamily="34" charset="-120"/>
              </a:rPr>
              <a:t>NDRE = (B08 − B05) / (B08 + B05)</a:t>
            </a:r>
            <a:endParaRPr lang="en-US" sz="1250" dirty="0"/>
          </a:p>
          <a:p>
            <a:pPr indent="0" marL="0">
              <a:spcAft>
                <a:spcPts val="400"/>
              </a:spcAft>
              <a:buNone/>
            </a:pPr>
            <a:r>
              <a:rPr lang="en-US" sz="1250" b="1" dirty="0">
                <a:solidFill>
                  <a:srgbClr val="0F2A22"/>
                </a:solidFill>
                <a:latin typeface="Courier New" pitchFamily="34" charset="0"/>
                <a:ea typeface="Courier New" pitchFamily="34" charset="-122"/>
                <a:cs typeface="Courier New" pitchFamily="34" charset="-120"/>
              </a:rPr>
              <a:t>NDMI = (B08 − B11) / (B08 + B11)</a:t>
            </a:r>
            <a:endParaRPr lang="en-US" sz="1250" dirty="0"/>
          </a:p>
          <a:p>
            <a:pPr indent="0" marL="0">
              <a:spcAft>
                <a:spcPts val="400"/>
              </a:spcAft>
              <a:buNone/>
            </a:pPr>
            <a:r>
              <a:rPr lang="en-US" sz="1100" dirty="0">
                <a:solidFill>
                  <a:srgbClr val="0F2A22"/>
                </a:solidFill>
                <a:latin typeface="Courier New" pitchFamily="34" charset="0"/>
                <a:ea typeface="Courier New" pitchFamily="34" charset="-122"/>
                <a:cs typeface="Courier New" pitchFamily="34" charset="-120"/>
              </a:rPr>
              <a:t>EVI  = 2.5·(B08−B04)/(B08+6·B04−7.5·B02+1)</a:t>
            </a:r>
            <a:endParaRPr lang="en-US" sz="1250" dirty="0"/>
          </a:p>
          <a:p>
            <a:pPr indent="0" marL="0">
              <a:spcAft>
                <a:spcPts val="400"/>
              </a:spcAft>
              <a:buNone/>
            </a:pPr>
            <a:r>
              <a:rPr lang="en-US" sz="1100" dirty="0">
                <a:solidFill>
                  <a:srgbClr val="0F2A22"/>
                </a:solidFill>
                <a:latin typeface="Courier New" pitchFamily="34" charset="0"/>
                <a:ea typeface="Courier New" pitchFamily="34" charset="-122"/>
                <a:cs typeface="Courier New" pitchFamily="34" charset="-120"/>
              </a:rPr>
              <a:t>SAVI = 1.5·(B08−B04)/(B08+B04+0.5)</a:t>
            </a:r>
            <a:endParaRPr lang="en-US" sz="1250" dirty="0"/>
          </a:p>
          <a:p>
            <a:pPr indent="0" marL="0">
              <a:spcAft>
                <a:spcPts val="400"/>
              </a:spcAft>
              <a:buNone/>
            </a:pPr>
            <a:r>
              <a:rPr lang="en-US" sz="950" dirty="0">
                <a:solidFill>
                  <a:srgbClr val="6B6B5C"/>
                </a:solidFill>
                <a:latin typeface="Courier New" pitchFamily="34" charset="0"/>
                <a:ea typeface="Courier New" pitchFamily="34" charset="-122"/>
                <a:cs typeface="Courier New" pitchFamily="34" charset="-120"/>
              </a:rPr>
              <a:t>B04 Red · B05 RedEdge · B08 NIR · B11 SWIR · B02 Blue</a:t>
            </a:r>
            <a:endParaRPr lang="en-US" sz="1250" dirty="0"/>
          </a:p>
        </p:txBody>
      </p:sp>
      <p:sp>
        <p:nvSpPr>
          <p:cNvPr id="9" name="Shape 7"/>
          <p:cNvSpPr/>
          <p:nvPr/>
        </p:nvSpPr>
        <p:spPr>
          <a:xfrm>
            <a:off x="6263640" y="1554480"/>
            <a:ext cx="5349240" cy="2331720"/>
          </a:xfrm>
          <a:prstGeom prst="roundRect">
            <a:avLst>
              <a:gd name="adj" fmla="val 1961"/>
            </a:avLst>
          </a:prstGeom>
          <a:solidFill>
            <a:srgbClr val="FFFFFF"/>
          </a:solidFill>
          <a:ln w="9525">
            <a:solidFill>
              <a:srgbClr val="C9A876"/>
            </a:solidFill>
            <a:prstDash val="solid"/>
          </a:ln>
        </p:spPr>
      </p:sp>
      <p:sp>
        <p:nvSpPr>
          <p:cNvPr id="10" name="Text 8"/>
          <p:cNvSpPr/>
          <p:nvPr/>
        </p:nvSpPr>
        <p:spPr>
          <a:xfrm>
            <a:off x="6428232" y="1664208"/>
            <a:ext cx="5074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QUÉ REPRESENTA CADA UNO</a:t>
            </a:r>
            <a:endParaRPr lang="en-US" sz="900" dirty="0"/>
          </a:p>
        </p:txBody>
      </p:sp>
      <p:sp>
        <p:nvSpPr>
          <p:cNvPr id="11" name="Text 9"/>
          <p:cNvSpPr/>
          <p:nvPr/>
        </p:nvSpPr>
        <p:spPr>
          <a:xfrm>
            <a:off x="6428232" y="1975104"/>
            <a:ext cx="5020056" cy="1801368"/>
          </a:xfrm>
          <a:prstGeom prst="rect">
            <a:avLst/>
          </a:prstGeom>
          <a:noFill/>
          <a:ln/>
        </p:spPr>
        <p:txBody>
          <a:bodyPr wrap="square" rtlCol="0" anchor="t"/>
          <a:lstStyle/>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NDVI — vigor / biomasa verde. El termómetro base.</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NDRE — clorofila vía red-edge. Sensible a N foliar y a maduración.</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NDMI — agua en la hoja. Cae 7-14 d antes que NDVI bajo estrés hídrico.</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EVI — densidad de dosel, corregido suelo/atmósfera.</a:t>
            </a:r>
            <a:endParaRPr lang="en-US" sz="1200" dirty="0"/>
          </a:p>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SAVI — NDVI ajustado por suelo (L=0.5). Clave en dosel disperso: olivar, pistacho.</a:t>
            </a:r>
            <a:endParaRPr lang="en-US" sz="1200" dirty="0"/>
          </a:p>
        </p:txBody>
      </p:sp>
      <p:sp>
        <p:nvSpPr>
          <p:cNvPr id="12" name="Shape 10"/>
          <p:cNvSpPr/>
          <p:nvPr/>
        </p:nvSpPr>
        <p:spPr>
          <a:xfrm>
            <a:off x="548640" y="4069080"/>
            <a:ext cx="11064240" cy="2057400"/>
          </a:xfrm>
          <a:prstGeom prst="roundRect">
            <a:avLst>
              <a:gd name="adj" fmla="val 2222"/>
            </a:avLst>
          </a:prstGeom>
          <a:solidFill>
            <a:srgbClr val="FFFFFF"/>
          </a:solidFill>
          <a:ln w="9525">
            <a:solidFill>
              <a:srgbClr val="C9A876"/>
            </a:solidFill>
            <a:prstDash val="solid"/>
          </a:ln>
        </p:spPr>
      </p:sp>
      <p:sp>
        <p:nvSpPr>
          <p:cNvPr id="13" name="Text 11"/>
          <p:cNvSpPr/>
          <p:nvPr/>
        </p:nvSpPr>
        <p:spPr>
          <a:xfrm>
            <a:off x="713232" y="4178808"/>
            <a:ext cx="10789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CÓMO SE LEE</a:t>
            </a:r>
            <a:endParaRPr lang="en-US" sz="900" dirty="0"/>
          </a:p>
        </p:txBody>
      </p:sp>
      <p:sp>
        <p:nvSpPr>
          <p:cNvPr id="14" name="Text 12"/>
          <p:cNvSpPr/>
          <p:nvPr/>
        </p:nvSpPr>
        <p:spPr>
          <a:xfrm>
            <a:off x="713232" y="4489704"/>
            <a:ext cx="10735056" cy="1527048"/>
          </a:xfrm>
          <a:prstGeom prst="rect">
            <a:avLst/>
          </a:prstGeom>
          <a:noFill/>
          <a:ln/>
        </p:spPr>
        <p:txBody>
          <a:bodyPr wrap="square" rtlCol="0" anchor="t"/>
          <a:lstStyle/>
          <a:p>
            <a:pPr indent="0" marL="0">
              <a:spcAft>
                <a:spcPts val="600"/>
              </a:spcAft>
              <a:buNone/>
            </a:pPr>
            <a:r>
              <a:rPr lang="en-US" sz="1200" b="1" dirty="0">
                <a:solidFill>
                  <a:srgbClr val="0F2A22"/>
                </a:solidFill>
                <a:latin typeface="Calibri" pitchFamily="34" charset="0"/>
                <a:ea typeface="Calibri" pitchFamily="34" charset="-122"/>
                <a:cs typeface="Calibri" pitchFamily="34" charset="-120"/>
              </a:rPr>
              <a:t>Rango físico [-1, 1] (EVI/SAVI pueden exceder ±1 en suelos brillantes).</a:t>
            </a:r>
            <a:endParaRPr lang="en-US" sz="1200" dirty="0"/>
          </a:p>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&lt; 0.2 suelo desnudo / sin vegetación   ·   0.2–0.4 cobertura escasa o dispersa (olivar secano)   ·   0.4–0.6 cultivo activo   ·   &gt; 0.6 dosel denso y vigoroso.</a:t>
            </a:r>
            <a:endParaRPr lang="en-US" sz="1200" dirty="0"/>
          </a:p>
          <a:p>
            <a:pPr indent="0" marL="0">
              <a:spcAft>
                <a:spcPts val="400"/>
              </a:spcAft>
              <a:buNone/>
            </a:pPr>
            <a:r>
              <a:rPr lang="en-US" sz="1200" b="1" dirty="0">
                <a:solidFill>
                  <a:srgbClr val="1B4332"/>
                </a:solidFill>
                <a:latin typeface="Calibri" pitchFamily="34" charset="0"/>
                <a:ea typeface="Calibri" pitchFamily="34" charset="-122"/>
                <a:cs typeface="Calibri" pitchFamily="34" charset="-120"/>
              </a:rPr>
              <a:t>No se leen en absoluto: se leen CONTRA el rango estacional del cultivo (ficha 05) y CONTRA su propia serie temporal. Un olivar de secano a 0.35 en junio es normal; un cítrico a 0.35 es alarma.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0E8"/>
        </a:solidFill>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indent="0" marL="0">
              <a:buNone/>
            </a:pPr>
            <a:r>
              <a:rPr lang="en-US" sz="1000" spc="200" kern="0" dirty="0">
                <a:solidFill>
                  <a:srgbClr val="6B6B5C"/>
                </a:solidFill>
                <a:latin typeface="Courier New" pitchFamily="34" charset="0"/>
                <a:ea typeface="Courier New" pitchFamily="34" charset="-122"/>
                <a:cs typeface="Courier New" pitchFamily="34" charset="-120"/>
              </a:rPr>
              <a:t>§ 02 · FUENTE — SENTINEL-2 / openEO</a:t>
            </a:r>
            <a:endParaRPr lang="en-US" sz="1000" dirty="0"/>
          </a:p>
        </p:txBody>
      </p:sp>
      <p:sp>
        <p:nvSpPr>
          <p:cNvPr id="3" name="Text 1"/>
          <p:cNvSpPr/>
          <p:nvPr/>
        </p:nvSpPr>
        <p:spPr>
          <a:xfrm>
            <a:off x="548640" y="6446520"/>
            <a:ext cx="10972800" cy="274320"/>
          </a:xfrm>
          <a:prstGeom prst="rect">
            <a:avLst/>
          </a:prstGeom>
          <a:noFill/>
          <a:ln/>
        </p:spPr>
        <p:txBody>
          <a:bodyPr wrap="square" rtlCol="0" anchor="ctr"/>
          <a:lstStyle/>
          <a:p>
            <a:pPr indent="0" marL="0">
              <a:buNone/>
            </a:pPr>
            <a:r>
              <a:rPr lang="en-US" sz="700" spc="200" kern="0" dirty="0">
                <a:solidFill>
                  <a:srgbClr val="6B6B5C"/>
                </a:solidFill>
                <a:latin typeface="Courier New" pitchFamily="34" charset="0"/>
                <a:ea typeface="Courier New" pitchFamily="34" charset="-122"/>
                <a:cs typeface="Courier New" pitchFamily="34" charset="-120"/>
              </a:rPr>
              <a:t>AGROM · FITOLINK · INTELIGENCIA AGRARIA DE PRECISIÓN · 2026</a:t>
            </a:r>
            <a:endParaRPr lang="en-US" sz="700" dirty="0"/>
          </a:p>
        </p:txBody>
      </p:sp>
      <p:sp>
        <p:nvSpPr>
          <p:cNvPr id="4" name="Text 2"/>
          <p:cNvSpPr/>
          <p:nvPr/>
        </p:nvSpPr>
        <p:spPr>
          <a:xfrm>
            <a:off x="548640" y="685800"/>
            <a:ext cx="10972800" cy="640080"/>
          </a:xfrm>
          <a:prstGeom prst="rect">
            <a:avLst/>
          </a:prstGeom>
          <a:noFill/>
          <a:ln/>
        </p:spPr>
        <p:txBody>
          <a:bodyPr wrap="square" rtlCol="0" anchor="ctr"/>
          <a:lstStyle/>
          <a:p>
            <a:pPr indent="0" marL="0">
              <a:buNone/>
            </a:pPr>
            <a:r>
              <a:rPr lang="en-US" sz="2800" b="1" dirty="0">
                <a:solidFill>
                  <a:srgbClr val="1B4332"/>
                </a:solidFill>
                <a:latin typeface="Georgia" pitchFamily="34" charset="0"/>
                <a:ea typeface="Georgia" pitchFamily="34" charset="-122"/>
                <a:cs typeface="Georgia" pitchFamily="34" charset="-120"/>
              </a:rPr>
              <a:t>Cómo llega el píxel limpio</a:t>
            </a:r>
            <a:endParaRPr lang="en-US" sz="2800" dirty="0"/>
          </a:p>
        </p:txBody>
      </p:sp>
      <p:sp>
        <p:nvSpPr>
          <p:cNvPr id="5" name="Shape 3"/>
          <p:cNvSpPr/>
          <p:nvPr/>
        </p:nvSpPr>
        <p:spPr>
          <a:xfrm>
            <a:off x="548640" y="1371600"/>
            <a:ext cx="1005840" cy="0"/>
          </a:xfrm>
          <a:prstGeom prst="line">
            <a:avLst/>
          </a:prstGeom>
          <a:noFill/>
          <a:ln w="19050">
            <a:solidFill>
              <a:srgbClr val="C9A876"/>
            </a:solidFill>
            <a:prstDash val="solid"/>
          </a:ln>
        </p:spPr>
      </p:sp>
      <p:sp>
        <p:nvSpPr>
          <p:cNvPr id="6" name="Shape 4"/>
          <p:cNvSpPr/>
          <p:nvPr/>
        </p:nvSpPr>
        <p:spPr>
          <a:xfrm>
            <a:off x="548640" y="1554480"/>
            <a:ext cx="5532120" cy="2377440"/>
          </a:xfrm>
          <a:prstGeom prst="roundRect">
            <a:avLst>
              <a:gd name="adj" fmla="val 1923"/>
            </a:avLst>
          </a:prstGeom>
          <a:solidFill>
            <a:srgbClr val="FFFFFF"/>
          </a:solidFill>
          <a:ln w="9525">
            <a:solidFill>
              <a:srgbClr val="C9A876"/>
            </a:solidFill>
            <a:prstDash val="solid"/>
          </a:ln>
        </p:spPr>
      </p:sp>
      <p:sp>
        <p:nvSpPr>
          <p:cNvPr id="7" name="Text 5"/>
          <p:cNvSpPr/>
          <p:nvPr/>
        </p:nvSpPr>
        <p:spPr>
          <a:xfrm>
            <a:off x="713232" y="1664208"/>
            <a:ext cx="525780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PROVEEDOR Y MALLA</a:t>
            </a:r>
            <a:endParaRPr lang="en-US" sz="900" dirty="0"/>
          </a:p>
        </p:txBody>
      </p:sp>
      <p:sp>
        <p:nvSpPr>
          <p:cNvPr id="8" name="Text 6"/>
          <p:cNvSpPr/>
          <p:nvPr/>
        </p:nvSpPr>
        <p:spPr>
          <a:xfrm>
            <a:off x="713232" y="1975104"/>
            <a:ext cx="5202936" cy="1847088"/>
          </a:xfrm>
          <a:prstGeom prst="rect">
            <a:avLst/>
          </a:prstGeom>
          <a:noFill/>
          <a:ln/>
        </p:spPr>
        <p:txBody>
          <a:bodyPr wrap="square" rtlCol="0" anchor="t"/>
          <a:lstStyle/>
          <a:p>
            <a:pPr indent="0" marL="0">
              <a:spcAft>
                <a:spcPts val="500"/>
              </a:spcAft>
              <a:buNone/>
            </a:pPr>
            <a:r>
              <a:rPr lang="en-US" sz="1200" b="1" dirty="0">
                <a:solidFill>
                  <a:srgbClr val="0F2A22"/>
                </a:solidFill>
                <a:latin typeface="Calibri" pitchFamily="34" charset="0"/>
                <a:ea typeface="Calibri" pitchFamily="34" charset="-122"/>
                <a:cs typeface="Calibri" pitchFamily="34" charset="-120"/>
              </a:rPr>
              <a:t>Copernicus CDSE · openEO (cómputo en nube)</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Colección SENTINEL2_L2A (reflectancia BOA)</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Resolución 10 m (B02/B04/B08) · 20 m (B05/B11)</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Revisita ~5 días (S2A + S2B sobre España)</a:t>
            </a:r>
            <a:endParaRPr lang="en-US" sz="1200" dirty="0"/>
          </a:p>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Histórico disponible: 2017 → hoy</a:t>
            </a:r>
            <a:endParaRPr lang="en-US" sz="1200" dirty="0"/>
          </a:p>
        </p:txBody>
      </p:sp>
      <p:sp>
        <p:nvSpPr>
          <p:cNvPr id="9" name="Shape 7"/>
          <p:cNvSpPr/>
          <p:nvPr/>
        </p:nvSpPr>
        <p:spPr>
          <a:xfrm>
            <a:off x="6263640" y="1554480"/>
            <a:ext cx="5349240" cy="2377440"/>
          </a:xfrm>
          <a:prstGeom prst="roundRect">
            <a:avLst>
              <a:gd name="adj" fmla="val 1923"/>
            </a:avLst>
          </a:prstGeom>
          <a:solidFill>
            <a:srgbClr val="FFFFFF"/>
          </a:solidFill>
          <a:ln w="9525">
            <a:solidFill>
              <a:srgbClr val="C9A876"/>
            </a:solidFill>
            <a:prstDash val="solid"/>
          </a:ln>
        </p:spPr>
      </p:sp>
      <p:sp>
        <p:nvSpPr>
          <p:cNvPr id="10" name="Text 8"/>
          <p:cNvSpPr/>
          <p:nvPr/>
        </p:nvSpPr>
        <p:spPr>
          <a:xfrm>
            <a:off x="6428232" y="1664208"/>
            <a:ext cx="5074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LIMPIEZA EN LA NUBE (NO EN NUESTRO SERVIDOR)</a:t>
            </a:r>
            <a:endParaRPr lang="en-US" sz="900" dirty="0"/>
          </a:p>
        </p:txBody>
      </p:sp>
      <p:sp>
        <p:nvSpPr>
          <p:cNvPr id="11" name="Text 9"/>
          <p:cNvSpPr/>
          <p:nvPr/>
        </p:nvSpPr>
        <p:spPr>
          <a:xfrm>
            <a:off x="6428232" y="1975104"/>
            <a:ext cx="5020056" cy="1847088"/>
          </a:xfrm>
          <a:prstGeom prst="rect">
            <a:avLst/>
          </a:prstGeom>
          <a:noFill/>
          <a:ln/>
        </p:spPr>
        <p:txBody>
          <a:bodyPr wrap="square" rtlCol="0" anchor="t"/>
          <a:lstStyle/>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1 · Pre-filtro nubes &lt; 50 % de escena</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2 · Máscara SCL descarta nube, sombra, cirro, nieve, saturado [0,1,3,8,9,10,11]</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3 · Cálculo de los 5 índices</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4 · Recorte al polígono de la parcela</a:t>
            </a:r>
            <a:endParaRPr lang="en-US" sz="1200" dirty="0"/>
          </a:p>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5 · Composite temporal "max" → el píxel más limpio de la ventana</a:t>
            </a:r>
            <a:endParaRPr lang="en-US" sz="1200" dirty="0"/>
          </a:p>
        </p:txBody>
      </p:sp>
      <p:sp>
        <p:nvSpPr>
          <p:cNvPr id="12" name="Shape 10"/>
          <p:cNvSpPr/>
          <p:nvPr/>
        </p:nvSpPr>
        <p:spPr>
          <a:xfrm>
            <a:off x="548640" y="4114800"/>
            <a:ext cx="11064240" cy="2011680"/>
          </a:xfrm>
          <a:prstGeom prst="roundRect">
            <a:avLst>
              <a:gd name="adj" fmla="val 2273"/>
            </a:avLst>
          </a:prstGeom>
          <a:solidFill>
            <a:srgbClr val="FFFFFF"/>
          </a:solidFill>
          <a:ln w="9525">
            <a:solidFill>
              <a:srgbClr val="C9A876"/>
            </a:solidFill>
            <a:prstDash val="solid"/>
          </a:ln>
        </p:spPr>
      </p:sp>
      <p:sp>
        <p:nvSpPr>
          <p:cNvPr id="13" name="Text 11"/>
          <p:cNvSpPr/>
          <p:nvPr/>
        </p:nvSpPr>
        <p:spPr>
          <a:xfrm>
            <a:off x="713232" y="4224528"/>
            <a:ext cx="10789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CÓMO SE LEE / QUÉ GARANTIZA</a:t>
            </a:r>
            <a:endParaRPr lang="en-US" sz="900" dirty="0"/>
          </a:p>
        </p:txBody>
      </p:sp>
      <p:sp>
        <p:nvSpPr>
          <p:cNvPr id="14" name="Text 12"/>
          <p:cNvSpPr/>
          <p:nvPr/>
        </p:nvSpPr>
        <p:spPr>
          <a:xfrm>
            <a:off x="713232" y="4535424"/>
            <a:ext cx="10735056" cy="1481328"/>
          </a:xfrm>
          <a:prstGeom prst="rect">
            <a:avLst/>
          </a:prstGeom>
          <a:noFill/>
          <a:ln/>
        </p:spPr>
        <p:txBody>
          <a:bodyPr wrap="square" rtlCol="0" anchor="t"/>
          <a:lstStyle/>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Cada lectura trae mean / min / max / std / pixel_count / cloud_fraction. El "min–max" no es heterogeneidad real del cultivo: en parcelas grandes captura outliers (caminos, cortijos, ribera). La heterogeneidad real se ve en el heatmap intra-parcela (ficha siguiente).</a:t>
            </a:r>
            <a:endParaRPr lang="en-US" sz="1200" dirty="0"/>
          </a:p>
          <a:p>
            <a:pPr indent="0" marL="0">
              <a:spcAft>
                <a:spcPts val="400"/>
              </a:spcAft>
              <a:buNone/>
            </a:pPr>
            <a:r>
              <a:rPr lang="en-US" sz="1200" b="1" dirty="0">
                <a:solidFill>
                  <a:srgbClr val="1B4332"/>
                </a:solidFill>
                <a:latin typeface="Calibri" pitchFamily="34" charset="0"/>
                <a:ea typeface="Calibri" pitchFamily="34" charset="-122"/>
                <a:cs typeface="Calibri" pitchFamily="34" charset="-120"/>
              </a:rPr>
              <a:t>Coste marginal por hectárea ≈ 0: el cómputo lo hace Copernicus. Escala a 400 ha o a 50.000 ha igual.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0E8"/>
        </a:solidFill>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indent="0" marL="0">
              <a:buNone/>
            </a:pPr>
            <a:r>
              <a:rPr lang="en-US" sz="1000" spc="200" kern="0" dirty="0">
                <a:solidFill>
                  <a:srgbClr val="6B6B5C"/>
                </a:solidFill>
                <a:latin typeface="Courier New" pitchFamily="34" charset="0"/>
                <a:ea typeface="Courier New" pitchFamily="34" charset="-122"/>
                <a:cs typeface="Courier New" pitchFamily="34" charset="-120"/>
              </a:rPr>
              <a:t>§ 03 · HEATMAP INTRA-PARCELA (NDVI grid)</a:t>
            </a:r>
            <a:endParaRPr lang="en-US" sz="1000" dirty="0"/>
          </a:p>
        </p:txBody>
      </p:sp>
      <p:sp>
        <p:nvSpPr>
          <p:cNvPr id="3" name="Text 1"/>
          <p:cNvSpPr/>
          <p:nvPr/>
        </p:nvSpPr>
        <p:spPr>
          <a:xfrm>
            <a:off x="548640" y="6446520"/>
            <a:ext cx="10972800" cy="274320"/>
          </a:xfrm>
          <a:prstGeom prst="rect">
            <a:avLst/>
          </a:prstGeom>
          <a:noFill/>
          <a:ln/>
        </p:spPr>
        <p:txBody>
          <a:bodyPr wrap="square" rtlCol="0" anchor="ctr"/>
          <a:lstStyle/>
          <a:p>
            <a:pPr indent="0" marL="0">
              <a:buNone/>
            </a:pPr>
            <a:r>
              <a:rPr lang="en-US" sz="700" spc="200" kern="0" dirty="0">
                <a:solidFill>
                  <a:srgbClr val="6B6B5C"/>
                </a:solidFill>
                <a:latin typeface="Courier New" pitchFamily="34" charset="0"/>
                <a:ea typeface="Courier New" pitchFamily="34" charset="-122"/>
                <a:cs typeface="Courier New" pitchFamily="34" charset="-120"/>
              </a:rPr>
              <a:t>AGROM · FITOLINK · INTELIGENCIA AGRARIA DE PRECISIÓN · 2026</a:t>
            </a:r>
            <a:endParaRPr lang="en-US" sz="700" dirty="0"/>
          </a:p>
        </p:txBody>
      </p:sp>
      <p:sp>
        <p:nvSpPr>
          <p:cNvPr id="4" name="Text 2"/>
          <p:cNvSpPr/>
          <p:nvPr/>
        </p:nvSpPr>
        <p:spPr>
          <a:xfrm>
            <a:off x="548640" y="685800"/>
            <a:ext cx="10972800" cy="640080"/>
          </a:xfrm>
          <a:prstGeom prst="rect">
            <a:avLst/>
          </a:prstGeom>
          <a:noFill/>
          <a:ln/>
        </p:spPr>
        <p:txBody>
          <a:bodyPr wrap="square" rtlCol="0" anchor="ctr"/>
          <a:lstStyle/>
          <a:p>
            <a:pPr indent="0" marL="0">
              <a:buNone/>
            </a:pPr>
            <a:r>
              <a:rPr lang="en-US" sz="2800" b="1" dirty="0">
                <a:solidFill>
                  <a:srgbClr val="1B4332"/>
                </a:solidFill>
                <a:latin typeface="Georgia" pitchFamily="34" charset="0"/>
                <a:ea typeface="Georgia" pitchFamily="34" charset="-122"/>
                <a:cs typeface="Georgia" pitchFamily="34" charset="-120"/>
              </a:rPr>
              <a:t>La lupa dentro de la parcela</a:t>
            </a:r>
            <a:endParaRPr lang="en-US" sz="2800" dirty="0"/>
          </a:p>
        </p:txBody>
      </p:sp>
      <p:sp>
        <p:nvSpPr>
          <p:cNvPr id="5" name="Shape 3"/>
          <p:cNvSpPr/>
          <p:nvPr/>
        </p:nvSpPr>
        <p:spPr>
          <a:xfrm>
            <a:off x="548640" y="1371600"/>
            <a:ext cx="1005840" cy="0"/>
          </a:xfrm>
          <a:prstGeom prst="line">
            <a:avLst/>
          </a:prstGeom>
          <a:noFill/>
          <a:ln w="19050">
            <a:solidFill>
              <a:srgbClr val="C9A876"/>
            </a:solidFill>
            <a:prstDash val="solid"/>
          </a:ln>
        </p:spPr>
      </p:sp>
      <p:sp>
        <p:nvSpPr>
          <p:cNvPr id="6" name="Shape 4"/>
          <p:cNvSpPr/>
          <p:nvPr/>
        </p:nvSpPr>
        <p:spPr>
          <a:xfrm>
            <a:off x="548640" y="1554480"/>
            <a:ext cx="5532120" cy="2468880"/>
          </a:xfrm>
          <a:prstGeom prst="roundRect">
            <a:avLst>
              <a:gd name="adj" fmla="val 1852"/>
            </a:avLst>
          </a:prstGeom>
          <a:solidFill>
            <a:srgbClr val="FFFFFF"/>
          </a:solidFill>
          <a:ln w="9525">
            <a:solidFill>
              <a:srgbClr val="C9A876"/>
            </a:solidFill>
            <a:prstDash val="solid"/>
          </a:ln>
        </p:spPr>
      </p:sp>
      <p:sp>
        <p:nvSpPr>
          <p:cNvPr id="7" name="Text 5"/>
          <p:cNvSpPr/>
          <p:nvPr/>
        </p:nvSpPr>
        <p:spPr>
          <a:xfrm>
            <a:off x="713232" y="1664208"/>
            <a:ext cx="525780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MÉTODO — MEDIA ZONAL (BINNING)</a:t>
            </a:r>
            <a:endParaRPr lang="en-US" sz="900" dirty="0"/>
          </a:p>
        </p:txBody>
      </p:sp>
      <p:sp>
        <p:nvSpPr>
          <p:cNvPr id="8" name="Text 6"/>
          <p:cNvSpPr/>
          <p:nvPr/>
        </p:nvSpPr>
        <p:spPr>
          <a:xfrm>
            <a:off x="713232" y="1975104"/>
            <a:ext cx="5202936" cy="1938528"/>
          </a:xfrm>
          <a:prstGeom prst="rect">
            <a:avLst/>
          </a:prstGeom>
          <a:noFill/>
          <a:ln/>
        </p:spPr>
        <p:txBody>
          <a:bodyPr wrap="square" rtlCol="0" anchor="t"/>
          <a:lstStyle/>
          <a:p>
            <a:pPr indent="0" marL="0">
              <a:spcAft>
                <a:spcPts val="500"/>
              </a:spcAft>
              <a:buNone/>
            </a:pPr>
            <a:r>
              <a:rPr lang="en-US" sz="1200" b="1" dirty="0">
                <a:solidFill>
                  <a:srgbClr val="0F2A22"/>
                </a:solidFill>
                <a:latin typeface="Calibri" pitchFamily="34" charset="0"/>
                <a:ea typeface="Calibri" pitchFamily="34" charset="-122"/>
                <a:cs typeface="Calibri" pitchFamily="34" charset="-120"/>
              </a:rPr>
              <a:t>Rejilla 20×20 sobre el bbox (hasta 400 celdas)</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Cada píxel Sentinel-2 → su celda (np.bincount, O(n))</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Celda = media REAL de sus píxeles (sin interpolar, sin suavizar)</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Solo se emiten celdas con ≥1 píxel y centro dentro del polígono</a:t>
            </a:r>
            <a:endParaRPr lang="en-US" sz="1200" dirty="0"/>
          </a:p>
          <a:p>
            <a:pPr indent="0" marL="0">
              <a:spcAft>
                <a:spcPts val="400"/>
              </a:spcAft>
              <a:buNone/>
            </a:pPr>
            <a:r>
              <a:rPr lang="en-US" sz="1000" dirty="0">
                <a:solidFill>
                  <a:srgbClr val="6B6B5C"/>
                </a:solidFill>
                <a:latin typeface="Courier New" pitchFamily="34" charset="0"/>
                <a:ea typeface="Courier New" pitchFamily="34" charset="-122"/>
                <a:cs typeface="Courier New" pitchFamily="34" charset="-120"/>
              </a:rPr>
              <a:t>ndvi_grid.py · resolución NDVI_GRID_RESOLUTION</a:t>
            </a:r>
            <a:endParaRPr lang="en-US" sz="1200" dirty="0"/>
          </a:p>
        </p:txBody>
      </p:sp>
      <p:sp>
        <p:nvSpPr>
          <p:cNvPr id="9" name="Shape 7"/>
          <p:cNvSpPr/>
          <p:nvPr/>
        </p:nvSpPr>
        <p:spPr>
          <a:xfrm>
            <a:off x="6263640" y="1554480"/>
            <a:ext cx="5349240" cy="2468880"/>
          </a:xfrm>
          <a:prstGeom prst="roundRect">
            <a:avLst>
              <a:gd name="adj" fmla="val 1852"/>
            </a:avLst>
          </a:prstGeom>
          <a:solidFill>
            <a:srgbClr val="FFFFFF"/>
          </a:solidFill>
          <a:ln w="9525">
            <a:solidFill>
              <a:srgbClr val="C9A876"/>
            </a:solidFill>
            <a:prstDash val="solid"/>
          </a:ln>
        </p:spPr>
      </p:sp>
      <p:sp>
        <p:nvSpPr>
          <p:cNvPr id="10" name="Text 8"/>
          <p:cNvSpPr/>
          <p:nvPr/>
        </p:nvSpPr>
        <p:spPr>
          <a:xfrm>
            <a:off x="6428232" y="1664208"/>
            <a:ext cx="5074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POR QUÉ BINNING Y NO INTERPOLACIÓN</a:t>
            </a:r>
            <a:endParaRPr lang="en-US" sz="900" dirty="0"/>
          </a:p>
        </p:txBody>
      </p:sp>
      <p:sp>
        <p:nvSpPr>
          <p:cNvPr id="11" name="Text 9"/>
          <p:cNvSpPr/>
          <p:nvPr/>
        </p:nvSpPr>
        <p:spPr>
          <a:xfrm>
            <a:off x="6428232" y="1975104"/>
            <a:ext cx="5020056" cy="1938528"/>
          </a:xfrm>
          <a:prstGeom prst="rect">
            <a:avLst/>
          </a:prstGeom>
          <a:noFill/>
          <a:ln/>
        </p:spPr>
        <p:txBody>
          <a:bodyPr wrap="square" rtlCol="0" anchor="t"/>
          <a:lstStyle/>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La versión previa usaba RBF denso O(n³): una parcela de 407 ha (~40.000 px) construía una matriz ~12 GB.</a:t>
            </a:r>
            <a:endParaRPr lang="en-US" sz="1200" dirty="0"/>
          </a:p>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Saturaba la CPU del servidor (aviso del proveedor) y la finca grande quedaba sin heatmap.</a:t>
            </a:r>
            <a:endParaRPr lang="en-US" sz="1200" dirty="0"/>
          </a:p>
          <a:p>
            <a:pPr indent="0" marL="0">
              <a:spcAft>
                <a:spcPts val="400"/>
              </a:spcAft>
              <a:buNone/>
            </a:pPr>
            <a:r>
              <a:rPr lang="en-US" sz="1200" b="1" dirty="0">
                <a:solidFill>
                  <a:srgbClr val="1B4332"/>
                </a:solidFill>
                <a:latin typeface="Calibri" pitchFamily="34" charset="0"/>
                <a:ea typeface="Calibri" pitchFamily="34" charset="-122"/>
                <a:cs typeface="Calibri" pitchFamily="34" charset="-120"/>
              </a:rPr>
              <a:t>Binning es O(n), exacto y ligero: escala a cualquier tamaño. Cada celda muestra el dato real, no una estimación.</a:t>
            </a:r>
            <a:endParaRPr lang="en-US" sz="1200" dirty="0"/>
          </a:p>
        </p:txBody>
      </p:sp>
      <p:sp>
        <p:nvSpPr>
          <p:cNvPr id="12" name="Shape 10"/>
          <p:cNvSpPr/>
          <p:nvPr/>
        </p:nvSpPr>
        <p:spPr>
          <a:xfrm>
            <a:off x="548640" y="4206240"/>
            <a:ext cx="11064240" cy="1920240"/>
          </a:xfrm>
          <a:prstGeom prst="roundRect">
            <a:avLst>
              <a:gd name="adj" fmla="val 2381"/>
            </a:avLst>
          </a:prstGeom>
          <a:solidFill>
            <a:srgbClr val="FFFFFF"/>
          </a:solidFill>
          <a:ln w="9525">
            <a:solidFill>
              <a:srgbClr val="C9A876"/>
            </a:solidFill>
            <a:prstDash val="solid"/>
          </a:ln>
        </p:spPr>
      </p:sp>
      <p:sp>
        <p:nvSpPr>
          <p:cNvPr id="13" name="Text 11"/>
          <p:cNvSpPr/>
          <p:nvPr/>
        </p:nvSpPr>
        <p:spPr>
          <a:xfrm>
            <a:off x="713232" y="4315968"/>
            <a:ext cx="10789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CÓMO SE LEE</a:t>
            </a:r>
            <a:endParaRPr lang="en-US" sz="900" dirty="0"/>
          </a:p>
        </p:txBody>
      </p:sp>
      <p:sp>
        <p:nvSpPr>
          <p:cNvPr id="14" name="Text 12"/>
          <p:cNvSpPr/>
          <p:nvPr/>
        </p:nvSpPr>
        <p:spPr>
          <a:xfrm>
            <a:off x="713232" y="4626864"/>
            <a:ext cx="10735056" cy="1389888"/>
          </a:xfrm>
          <a:prstGeom prst="rect">
            <a:avLst/>
          </a:prstGeom>
          <a:noFill/>
          <a:ln/>
        </p:spPr>
        <p:txBody>
          <a:bodyPr wrap="square" rtlCol="0" anchor="t"/>
          <a:lstStyle/>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Mapa de calor por colores NDVI sobre la geometría real: verde = zonas vigorosas, ámbar/naranja = estrés, rojo = focos. En 400 ha despieza dónde actuar — imposible a ojo o con una visita.</a:t>
            </a:r>
            <a:endParaRPr lang="en-US" sz="1200" dirty="0"/>
          </a:p>
          <a:p>
            <a:pPr indent="0" marL="0">
              <a:spcAft>
                <a:spcPts val="400"/>
              </a:spcAft>
              <a:buNone/>
            </a:pPr>
            <a:r>
              <a:rPr lang="en-US" sz="1200" dirty="0">
                <a:solidFill>
                  <a:srgbClr val="6B6B5C"/>
                </a:solidFill>
                <a:latin typeface="Calibri" pitchFamily="34" charset="0"/>
                <a:ea typeface="Calibri" pitchFamily="34" charset="-122"/>
                <a:cs typeface="Calibri" pitchFamily="34" charset="-120"/>
              </a:rPr>
              <a:t>A 20×20 cada celda ≈ 1-2 ha en una finca grande. La resolución es configurable (más fino = más celdas).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8"/>
        </a:solidFill>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indent="0" marL="0">
              <a:buNone/>
            </a:pPr>
            <a:r>
              <a:rPr lang="en-US" sz="1000" spc="200" kern="0" dirty="0">
                <a:solidFill>
                  <a:srgbClr val="6B6B5C"/>
                </a:solidFill>
                <a:latin typeface="Courier New" pitchFamily="34" charset="0"/>
                <a:ea typeface="Courier New" pitchFamily="34" charset="-122"/>
                <a:cs typeface="Courier New" pitchFamily="34" charset="-120"/>
              </a:rPr>
              <a:t>§ 04 · DIAGNÓSTICO — GAUGE + RANGO ESTACIONAL</a:t>
            </a:r>
            <a:endParaRPr lang="en-US" sz="1000" dirty="0"/>
          </a:p>
        </p:txBody>
      </p:sp>
      <p:sp>
        <p:nvSpPr>
          <p:cNvPr id="3" name="Text 1"/>
          <p:cNvSpPr/>
          <p:nvPr/>
        </p:nvSpPr>
        <p:spPr>
          <a:xfrm>
            <a:off x="548640" y="6446520"/>
            <a:ext cx="10972800" cy="274320"/>
          </a:xfrm>
          <a:prstGeom prst="rect">
            <a:avLst/>
          </a:prstGeom>
          <a:noFill/>
          <a:ln/>
        </p:spPr>
        <p:txBody>
          <a:bodyPr wrap="square" rtlCol="0" anchor="ctr"/>
          <a:lstStyle/>
          <a:p>
            <a:pPr indent="0" marL="0">
              <a:buNone/>
            </a:pPr>
            <a:r>
              <a:rPr lang="en-US" sz="700" spc="200" kern="0" dirty="0">
                <a:solidFill>
                  <a:srgbClr val="6B6B5C"/>
                </a:solidFill>
                <a:latin typeface="Courier New" pitchFamily="34" charset="0"/>
                <a:ea typeface="Courier New" pitchFamily="34" charset="-122"/>
                <a:cs typeface="Courier New" pitchFamily="34" charset="-120"/>
              </a:rPr>
              <a:t>AGROM · FITOLINK · INTELIGENCIA AGRARIA DE PRECISIÓN · 2026</a:t>
            </a:r>
            <a:endParaRPr lang="en-US" sz="700" dirty="0"/>
          </a:p>
        </p:txBody>
      </p:sp>
      <p:sp>
        <p:nvSpPr>
          <p:cNvPr id="4" name="Text 2"/>
          <p:cNvSpPr/>
          <p:nvPr/>
        </p:nvSpPr>
        <p:spPr>
          <a:xfrm>
            <a:off x="548640" y="685800"/>
            <a:ext cx="11155680" cy="640080"/>
          </a:xfrm>
          <a:prstGeom prst="rect">
            <a:avLst/>
          </a:prstGeom>
          <a:noFill/>
          <a:ln/>
        </p:spPr>
        <p:txBody>
          <a:bodyPr wrap="square" rtlCol="0" anchor="ctr"/>
          <a:lstStyle/>
          <a:p>
            <a:pPr indent="0" marL="0">
              <a:buNone/>
            </a:pPr>
            <a:r>
              <a:rPr lang="en-US" sz="2600" b="1" dirty="0">
                <a:solidFill>
                  <a:srgbClr val="1B4332"/>
                </a:solidFill>
                <a:latin typeface="Georgia" pitchFamily="34" charset="0"/>
                <a:ea typeface="Georgia" pitchFamily="34" charset="-122"/>
                <a:cs typeface="Georgia" pitchFamily="34" charset="-120"/>
              </a:rPr>
              <a:t>El NDVI no se lee solo: se lee por cultivo y mes</a:t>
            </a:r>
            <a:endParaRPr lang="en-US" sz="2600" dirty="0"/>
          </a:p>
        </p:txBody>
      </p:sp>
      <p:sp>
        <p:nvSpPr>
          <p:cNvPr id="5" name="Shape 3"/>
          <p:cNvSpPr/>
          <p:nvPr/>
        </p:nvSpPr>
        <p:spPr>
          <a:xfrm>
            <a:off x="548640" y="1371600"/>
            <a:ext cx="1005840" cy="0"/>
          </a:xfrm>
          <a:prstGeom prst="line">
            <a:avLst/>
          </a:prstGeom>
          <a:noFill/>
          <a:ln w="19050">
            <a:solidFill>
              <a:srgbClr val="C9A876"/>
            </a:solidFill>
            <a:prstDash val="solid"/>
          </a:ln>
        </p:spPr>
      </p:sp>
      <p:sp>
        <p:nvSpPr>
          <p:cNvPr id="6" name="Shape 4"/>
          <p:cNvSpPr/>
          <p:nvPr/>
        </p:nvSpPr>
        <p:spPr>
          <a:xfrm>
            <a:off x="548640" y="1554480"/>
            <a:ext cx="5532120" cy="2286000"/>
          </a:xfrm>
          <a:prstGeom prst="roundRect">
            <a:avLst>
              <a:gd name="adj" fmla="val 2000"/>
            </a:avLst>
          </a:prstGeom>
          <a:solidFill>
            <a:srgbClr val="FFFFFF"/>
          </a:solidFill>
          <a:ln w="9525">
            <a:solidFill>
              <a:srgbClr val="C9A876"/>
            </a:solidFill>
            <a:prstDash val="solid"/>
          </a:ln>
        </p:spPr>
      </p:sp>
      <p:sp>
        <p:nvSpPr>
          <p:cNvPr id="7" name="Text 5"/>
          <p:cNvSpPr/>
          <p:nvPr/>
        </p:nvSpPr>
        <p:spPr>
          <a:xfrm>
            <a:off x="713232" y="1664208"/>
            <a:ext cx="525780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GAUGE — NDVI → SCORE (HealthScoreGauge.tsx)</a:t>
            </a:r>
            <a:endParaRPr lang="en-US" sz="900" dirty="0"/>
          </a:p>
        </p:txBody>
      </p:sp>
      <p:sp>
        <p:nvSpPr>
          <p:cNvPr id="8" name="Text 6"/>
          <p:cNvSpPr/>
          <p:nvPr/>
        </p:nvSpPr>
        <p:spPr>
          <a:xfrm>
            <a:off x="713232" y="1975104"/>
            <a:ext cx="5202936" cy="1755648"/>
          </a:xfrm>
          <a:prstGeom prst="rect">
            <a:avLst/>
          </a:prstGeom>
          <a:noFill/>
          <a:ln/>
        </p:spPr>
        <p:txBody>
          <a:bodyPr wrap="square" rtlCol="0" anchor="t"/>
          <a:lstStyle/>
          <a:p>
            <a:pPr indent="0" marL="0">
              <a:spcAft>
                <a:spcPts val="600"/>
              </a:spcAft>
              <a:buNone/>
            </a:pPr>
            <a:r>
              <a:rPr lang="en-US" sz="1200" b="1" dirty="0">
                <a:solidFill>
                  <a:srgbClr val="0F2A22"/>
                </a:solidFill>
                <a:latin typeface="Courier New" pitchFamily="34" charset="0"/>
                <a:ea typeface="Courier New" pitchFamily="34" charset="-122"/>
                <a:cs typeface="Courier New" pitchFamily="34" charset="-120"/>
              </a:rPr>
              <a:t>score = round(NDVI × 100)</a:t>
            </a:r>
            <a:endParaRPr lang="en-US" sz="1200" dirty="0"/>
          </a:p>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 60 Saludable   ·   40–59 Atención</a:t>
            </a:r>
            <a:endParaRPr lang="en-US" sz="1200" dirty="0"/>
          </a:p>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25–39 Riesgo   ·   &lt; 25 Crítico</a:t>
            </a:r>
            <a:endParaRPr lang="en-US" sz="1200" dirty="0"/>
          </a:p>
          <a:p>
            <a:pPr indent="0" marL="0">
              <a:spcAft>
                <a:spcPts val="400"/>
              </a:spcAft>
              <a:buNone/>
            </a:pPr>
            <a:r>
              <a:rPr lang="en-US" sz="1100" dirty="0">
                <a:solidFill>
                  <a:srgbClr val="6B6B5C"/>
                </a:solidFill>
                <a:latin typeface="Calibri" pitchFamily="34" charset="0"/>
                <a:ea typeface="Calibri" pitchFamily="34" charset="-122"/>
                <a:cs typeface="Calibri" pitchFamily="34" charset="-120"/>
              </a:rPr>
              <a:t>Precedencia contextual: Sin datos &gt; Calibrando &gt; En establecimiento &gt; Normal estacional &gt; score absoluto.</a:t>
            </a:r>
            <a:endParaRPr lang="en-US" sz="1200" dirty="0"/>
          </a:p>
        </p:txBody>
      </p:sp>
      <p:sp>
        <p:nvSpPr>
          <p:cNvPr id="9" name="Shape 7"/>
          <p:cNvSpPr/>
          <p:nvPr/>
        </p:nvSpPr>
        <p:spPr>
          <a:xfrm>
            <a:off x="6263640" y="1554480"/>
            <a:ext cx="5349240" cy="2286000"/>
          </a:xfrm>
          <a:prstGeom prst="roundRect">
            <a:avLst>
              <a:gd name="adj" fmla="val 2000"/>
            </a:avLst>
          </a:prstGeom>
          <a:solidFill>
            <a:srgbClr val="FFFFFF"/>
          </a:solidFill>
          <a:ln w="9525">
            <a:solidFill>
              <a:srgbClr val="C9A876"/>
            </a:solidFill>
            <a:prstDash val="solid"/>
          </a:ln>
        </p:spPr>
      </p:sp>
      <p:sp>
        <p:nvSpPr>
          <p:cNvPr id="10" name="Text 8"/>
          <p:cNvSpPr/>
          <p:nvPr/>
        </p:nvSpPr>
        <p:spPr>
          <a:xfrm>
            <a:off x="6428232" y="1664208"/>
            <a:ext cx="5074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RANGO ESTACIONAL POR GRUPO DE CULTIVO</a:t>
            </a:r>
            <a:endParaRPr lang="en-US" sz="900" dirty="0"/>
          </a:p>
        </p:txBody>
      </p:sp>
      <p:sp>
        <p:nvSpPr>
          <p:cNvPr id="11" name="Text 9"/>
          <p:cNvSpPr/>
          <p:nvPr/>
        </p:nvSpPr>
        <p:spPr>
          <a:xfrm>
            <a:off x="6428232" y="1975104"/>
            <a:ext cx="5020056" cy="1755648"/>
          </a:xfrm>
          <a:prstGeom prst="rect">
            <a:avLst/>
          </a:prstGeom>
          <a:noFill/>
          <a:ln/>
        </p:spPr>
        <p:txBody>
          <a:bodyPr wrap="square" rtlCol="0" anchor="t"/>
          <a:lstStyle/>
          <a:p>
            <a:pPr indent="0" marL="0">
              <a:spcAft>
                <a:spcPts val="300"/>
              </a:spcAft>
              <a:buNone/>
            </a:pPr>
            <a:r>
              <a:rPr lang="en-US" sz="1200" b="1" dirty="0">
                <a:solidFill>
                  <a:srgbClr val="0F2A22"/>
                </a:solidFill>
                <a:latin typeface="Calibri" pitchFamily="34" charset="0"/>
                <a:ea typeface="Calibri" pitchFamily="34" charset="-122"/>
                <a:cs typeface="Calibri" pitchFamily="34" charset="-120"/>
              </a:rPr>
              <a:t>olive (olivar secano) — disperso, suelo desnudo</a:t>
            </a:r>
            <a:endParaRPr lang="en-US" sz="1200" dirty="0"/>
          </a:p>
          <a:p>
            <a:pPr indent="0" marL="0">
              <a:spcAft>
                <a:spcPts val="300"/>
              </a:spcAft>
              <a:buNone/>
            </a:pPr>
            <a:r>
              <a:rPr lang="en-US" sz="1200" dirty="0">
                <a:solidFill>
                  <a:srgbClr val="0F2A22"/>
                </a:solidFill>
                <a:latin typeface="Calibri" pitchFamily="34" charset="0"/>
                <a:ea typeface="Calibri" pitchFamily="34" charset="-122"/>
                <a:cs typeface="Calibri" pitchFamily="34" charset="-120"/>
              </a:rPr>
              <a:t>evergreen (cítrico regadío) — dosel denso</a:t>
            </a:r>
            <a:endParaRPr lang="en-US" sz="1200" dirty="0"/>
          </a:p>
          <a:p>
            <a:pPr indent="0" marL="0">
              <a:spcAft>
                <a:spcPts val="300"/>
              </a:spcAft>
              <a:buNone/>
            </a:pPr>
            <a:r>
              <a:rPr lang="en-US" sz="1200" dirty="0">
                <a:solidFill>
                  <a:srgbClr val="0F2A22"/>
                </a:solidFill>
                <a:latin typeface="Calibri" pitchFamily="34" charset="0"/>
                <a:ea typeface="Calibri" pitchFamily="34" charset="-122"/>
                <a:cs typeface="Calibri" pitchFamily="34" charset="-120"/>
              </a:rPr>
              <a:t>deciduous (frutal, viña, pistacho, almendro)</a:t>
            </a:r>
            <a:endParaRPr lang="en-US" sz="1200" dirty="0"/>
          </a:p>
          <a:p>
            <a:pPr indent="0" marL="0">
              <a:spcAft>
                <a:spcPts val="300"/>
              </a:spcAft>
              <a:buNone/>
            </a:pPr>
            <a:r>
              <a:rPr lang="en-US" sz="1200" dirty="0">
                <a:solidFill>
                  <a:srgbClr val="0F2A22"/>
                </a:solidFill>
                <a:latin typeface="Calibri" pitchFamily="34" charset="0"/>
                <a:ea typeface="Calibri" pitchFamily="34" charset="-122"/>
                <a:cs typeface="Calibri" pitchFamily="34" charset="-120"/>
              </a:rPr>
              <a:t>winter_annual (cereal, patata, remolacha)</a:t>
            </a:r>
            <a:endParaRPr lang="en-US" sz="1200" dirty="0"/>
          </a:p>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summer_annual (girasol, maíz, algodón, arroz)</a:t>
            </a:r>
            <a:endParaRPr lang="en-US" sz="1200" dirty="0"/>
          </a:p>
          <a:p>
            <a:pPr indent="0" marL="0">
              <a:spcAft>
                <a:spcPts val="400"/>
              </a:spcAft>
              <a:buNone/>
            </a:pPr>
            <a:r>
              <a:rPr lang="en-US" sz="1100" dirty="0">
                <a:solidFill>
                  <a:srgbClr val="6B6B5C"/>
                </a:solidFill>
                <a:latin typeface="Calibri" pitchFamily="34" charset="0"/>
                <a:ea typeface="Calibri" pitchFamily="34" charset="-122"/>
                <a:cs typeface="Calibri" pitchFamily="34" charset="-120"/>
              </a:rPr>
              <a:t>Cada grupo tiene su [min, max] de NDVI normal por mes.</a:t>
            </a:r>
            <a:endParaRPr lang="en-US" sz="1200" dirty="0"/>
          </a:p>
        </p:txBody>
      </p:sp>
      <p:sp>
        <p:nvSpPr>
          <p:cNvPr id="12" name="Shape 10"/>
          <p:cNvSpPr/>
          <p:nvPr/>
        </p:nvSpPr>
        <p:spPr>
          <a:xfrm>
            <a:off x="548640" y="4023360"/>
            <a:ext cx="11064240" cy="2103120"/>
          </a:xfrm>
          <a:prstGeom prst="roundRect">
            <a:avLst>
              <a:gd name="adj" fmla="val 2174"/>
            </a:avLst>
          </a:prstGeom>
          <a:solidFill>
            <a:srgbClr val="FFFFFF"/>
          </a:solidFill>
          <a:ln w="9525">
            <a:solidFill>
              <a:srgbClr val="C9A876"/>
            </a:solidFill>
            <a:prstDash val="solid"/>
          </a:ln>
        </p:spPr>
      </p:sp>
      <p:sp>
        <p:nvSpPr>
          <p:cNvPr id="13" name="Text 11"/>
          <p:cNvSpPr/>
          <p:nvPr/>
        </p:nvSpPr>
        <p:spPr>
          <a:xfrm>
            <a:off x="713232" y="4133088"/>
            <a:ext cx="10789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CÓMO SE LEE — EJEMPLO OLIVAR DE SECANO EN JUNIO</a:t>
            </a:r>
            <a:endParaRPr lang="en-US" sz="900" dirty="0"/>
          </a:p>
        </p:txBody>
      </p:sp>
      <p:sp>
        <p:nvSpPr>
          <p:cNvPr id="14" name="Text 12"/>
          <p:cNvSpPr/>
          <p:nvPr/>
        </p:nvSpPr>
        <p:spPr>
          <a:xfrm>
            <a:off x="713232" y="4443984"/>
            <a:ext cx="10735056" cy="1572768"/>
          </a:xfrm>
          <a:prstGeom prst="rect">
            <a:avLst/>
          </a:prstGeom>
          <a:noFill/>
          <a:ln/>
        </p:spPr>
        <p:txBody>
          <a:bodyPr wrap="square" rtlCol="0" anchor="t"/>
          <a:lstStyle/>
          <a:p>
            <a:pPr indent="0" marL="0">
              <a:spcAft>
                <a:spcPts val="600"/>
              </a:spcAft>
              <a:buNone/>
            </a:pPr>
            <a:r>
              <a:rPr lang="en-US" sz="1200" b="1" dirty="0">
                <a:solidFill>
                  <a:srgbClr val="1B4332"/>
                </a:solidFill>
                <a:latin typeface="Calibri" pitchFamily="34" charset="0"/>
                <a:ea typeface="Calibri" pitchFamily="34" charset="-122"/>
                <a:cs typeface="Calibri" pitchFamily="34" charset="-120"/>
              </a:rPr>
              <a:t>Rango normal olive·junio = [0.25, 0.52]. Una finca a NDVI 0.35 cae DENTRO → "Normal", no "Riesgo".</a:t>
            </a:r>
            <a:endParaRPr lang="en-US" sz="1200" dirty="0"/>
          </a:p>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Si compartiera umbral con el cítrico de regadío (evergreen junio [0.38, 0.68]), ese mismo 0.35 saltaría como "8% por debajo / acción recomendada" — un falso positivo. Por eso el olivar de secano se separó como grupo propio (11-jun-2026).</a:t>
            </a:r>
            <a:endParaRPr lang="en-US" sz="1200" dirty="0"/>
          </a:p>
          <a:p>
            <a:pPr indent="0" marL="0">
              <a:spcAft>
                <a:spcPts val="400"/>
              </a:spcAft>
              <a:buNone/>
            </a:pPr>
            <a:r>
              <a:rPr lang="en-US" sz="1200" dirty="0">
                <a:solidFill>
                  <a:srgbClr val="6B6B5C"/>
                </a:solidFill>
                <a:latin typeface="Calibri" pitchFamily="34" charset="0"/>
                <a:ea typeface="Calibri" pitchFamily="34" charset="-122"/>
                <a:cs typeface="Calibri" pitchFamily="34" charset="-120"/>
              </a:rPr>
              <a:t>El sistema señala "factores a revisar" (hídrico, suelo, sanitario) e invita a inspección — NUNCA nombra un patógeno que no ha detectado.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0E8"/>
        </a:solidFill>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indent="0" marL="0">
              <a:buNone/>
            </a:pPr>
            <a:r>
              <a:rPr lang="en-US" sz="1000" spc="200" kern="0" dirty="0">
                <a:solidFill>
                  <a:srgbClr val="6B6B5C"/>
                </a:solidFill>
                <a:latin typeface="Courier New" pitchFamily="34" charset="0"/>
                <a:ea typeface="Courier New" pitchFamily="34" charset="-122"/>
                <a:cs typeface="Courier New" pitchFamily="34" charset="-120"/>
              </a:rPr>
              <a:t>§ 05 · TÉRMICO — LST LANDSAT (MS Planetary Computer)</a:t>
            </a:r>
            <a:endParaRPr lang="en-US" sz="1000" dirty="0"/>
          </a:p>
        </p:txBody>
      </p:sp>
      <p:sp>
        <p:nvSpPr>
          <p:cNvPr id="3" name="Text 1"/>
          <p:cNvSpPr/>
          <p:nvPr/>
        </p:nvSpPr>
        <p:spPr>
          <a:xfrm>
            <a:off x="548640" y="6446520"/>
            <a:ext cx="10972800" cy="274320"/>
          </a:xfrm>
          <a:prstGeom prst="rect">
            <a:avLst/>
          </a:prstGeom>
          <a:noFill/>
          <a:ln/>
        </p:spPr>
        <p:txBody>
          <a:bodyPr wrap="square" rtlCol="0" anchor="ctr"/>
          <a:lstStyle/>
          <a:p>
            <a:pPr indent="0" marL="0">
              <a:buNone/>
            </a:pPr>
            <a:r>
              <a:rPr lang="en-US" sz="700" spc="200" kern="0" dirty="0">
                <a:solidFill>
                  <a:srgbClr val="6B6B5C"/>
                </a:solidFill>
                <a:latin typeface="Courier New" pitchFamily="34" charset="0"/>
                <a:ea typeface="Courier New" pitchFamily="34" charset="-122"/>
                <a:cs typeface="Courier New" pitchFamily="34" charset="-120"/>
              </a:rPr>
              <a:t>AGROM · FITOLINK · INTELIGENCIA AGRARIA DE PRECISIÓN · 2026</a:t>
            </a:r>
            <a:endParaRPr lang="en-US" sz="700" dirty="0"/>
          </a:p>
        </p:txBody>
      </p:sp>
      <p:sp>
        <p:nvSpPr>
          <p:cNvPr id="4" name="Text 2"/>
          <p:cNvSpPr/>
          <p:nvPr/>
        </p:nvSpPr>
        <p:spPr>
          <a:xfrm>
            <a:off x="548640" y="685800"/>
            <a:ext cx="11338560" cy="640080"/>
          </a:xfrm>
          <a:prstGeom prst="rect">
            <a:avLst/>
          </a:prstGeom>
          <a:noFill/>
          <a:ln/>
        </p:spPr>
        <p:txBody>
          <a:bodyPr wrap="square" rtlCol="0" anchor="ctr"/>
          <a:lstStyle/>
          <a:p>
            <a:pPr indent="0" marL="0">
              <a:buNone/>
            </a:pPr>
            <a:r>
              <a:rPr lang="en-US" sz="2600" b="1" dirty="0">
                <a:solidFill>
                  <a:srgbClr val="1B4332"/>
                </a:solidFill>
                <a:latin typeface="Georgia" pitchFamily="34" charset="0"/>
                <a:ea typeface="Georgia" pitchFamily="34" charset="-122"/>
                <a:cs typeface="Georgia" pitchFamily="34" charset="-120"/>
              </a:rPr>
              <a:t>La temperatura de la planta delata el estrés antes</a:t>
            </a:r>
            <a:endParaRPr lang="en-US" sz="2600" dirty="0"/>
          </a:p>
        </p:txBody>
      </p:sp>
      <p:sp>
        <p:nvSpPr>
          <p:cNvPr id="5" name="Shape 3"/>
          <p:cNvSpPr/>
          <p:nvPr/>
        </p:nvSpPr>
        <p:spPr>
          <a:xfrm>
            <a:off x="548640" y="1371600"/>
            <a:ext cx="1005840" cy="0"/>
          </a:xfrm>
          <a:prstGeom prst="line">
            <a:avLst/>
          </a:prstGeom>
          <a:noFill/>
          <a:ln w="19050">
            <a:solidFill>
              <a:srgbClr val="C9A876"/>
            </a:solidFill>
            <a:prstDash val="solid"/>
          </a:ln>
        </p:spPr>
      </p:sp>
      <p:sp>
        <p:nvSpPr>
          <p:cNvPr id="6" name="Shape 4"/>
          <p:cNvSpPr/>
          <p:nvPr/>
        </p:nvSpPr>
        <p:spPr>
          <a:xfrm>
            <a:off x="548640" y="1554480"/>
            <a:ext cx="5532120" cy="2468880"/>
          </a:xfrm>
          <a:prstGeom prst="roundRect">
            <a:avLst>
              <a:gd name="adj" fmla="val 1852"/>
            </a:avLst>
          </a:prstGeom>
          <a:solidFill>
            <a:srgbClr val="FFFFFF"/>
          </a:solidFill>
          <a:ln w="9525">
            <a:solidFill>
              <a:srgbClr val="C9A876"/>
            </a:solidFill>
            <a:prstDash val="solid"/>
          </a:ln>
        </p:spPr>
      </p:sp>
      <p:sp>
        <p:nvSpPr>
          <p:cNvPr id="7" name="Text 5"/>
          <p:cNvSpPr/>
          <p:nvPr/>
        </p:nvSpPr>
        <p:spPr>
          <a:xfrm>
            <a:off x="713232" y="1664208"/>
            <a:ext cx="525780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FUENTE Y CONVERSIÓN (landsat_thermal.py)</a:t>
            </a:r>
            <a:endParaRPr lang="en-US" sz="900" dirty="0"/>
          </a:p>
        </p:txBody>
      </p:sp>
      <p:sp>
        <p:nvSpPr>
          <p:cNvPr id="8" name="Text 6"/>
          <p:cNvSpPr/>
          <p:nvPr/>
        </p:nvSpPr>
        <p:spPr>
          <a:xfrm>
            <a:off x="713232" y="1975104"/>
            <a:ext cx="5202936" cy="1938528"/>
          </a:xfrm>
          <a:prstGeom prst="rect">
            <a:avLst/>
          </a:prstGeom>
          <a:noFill/>
          <a:ln/>
        </p:spPr>
        <p:txBody>
          <a:bodyPr wrap="square" rtlCol="0" anchor="t"/>
          <a:lstStyle/>
          <a:p>
            <a:pPr indent="0" marL="0">
              <a:spcAft>
                <a:spcPts val="500"/>
              </a:spcAft>
              <a:buNone/>
            </a:pPr>
            <a:r>
              <a:rPr lang="en-US" sz="1200" b="1" dirty="0">
                <a:solidFill>
                  <a:srgbClr val="0F2A22"/>
                </a:solidFill>
                <a:latin typeface="Calibri" pitchFamily="34" charset="0"/>
                <a:ea typeface="Calibri" pitchFamily="34" charset="-122"/>
                <a:cs typeface="Calibri" pitchFamily="34" charset="-120"/>
              </a:rPr>
              <a:t>Landsat 8/9 C2 L2 · banda lwir11 (térmico)</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MS Planetary Computer (STAC, sin auth)</a:t>
            </a:r>
            <a:endParaRPr lang="en-US" sz="1200" dirty="0"/>
          </a:p>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30 m/píxel · ~8 días (L8+L9) · ventana 30 d</a:t>
            </a:r>
            <a:endParaRPr lang="en-US" sz="1200" dirty="0"/>
          </a:p>
          <a:p>
            <a:pPr indent="0" marL="0">
              <a:spcAft>
                <a:spcPts val="300"/>
              </a:spcAft>
              <a:buNone/>
            </a:pPr>
            <a:r>
              <a:rPr lang="en-US" sz="1200" dirty="0">
                <a:solidFill>
                  <a:srgbClr val="0F2A22"/>
                </a:solidFill>
                <a:latin typeface="Courier New" pitchFamily="34" charset="0"/>
                <a:ea typeface="Courier New" pitchFamily="34" charset="-122"/>
                <a:cs typeface="Courier New" pitchFamily="34" charset="-120"/>
              </a:rPr>
              <a:t>T_K = DN·0.00341802 + 149.0</a:t>
            </a:r>
            <a:endParaRPr lang="en-US" sz="1200" dirty="0"/>
          </a:p>
          <a:p>
            <a:pPr indent="0" marL="0">
              <a:spcAft>
                <a:spcPts val="400"/>
              </a:spcAft>
              <a:buNone/>
            </a:pPr>
            <a:r>
              <a:rPr lang="en-US" sz="1200" dirty="0">
                <a:solidFill>
                  <a:srgbClr val="0F2A22"/>
                </a:solidFill>
                <a:latin typeface="Courier New" pitchFamily="34" charset="0"/>
                <a:ea typeface="Courier New" pitchFamily="34" charset="-122"/>
                <a:cs typeface="Courier New" pitchFamily="34" charset="-120"/>
              </a:rPr>
              <a:t>T_°C = T_K − 273.15</a:t>
            </a:r>
            <a:endParaRPr lang="en-US" sz="1200" dirty="0"/>
          </a:p>
        </p:txBody>
      </p:sp>
      <p:sp>
        <p:nvSpPr>
          <p:cNvPr id="9" name="Shape 7"/>
          <p:cNvSpPr/>
          <p:nvPr/>
        </p:nvSpPr>
        <p:spPr>
          <a:xfrm>
            <a:off x="6263640" y="1554480"/>
            <a:ext cx="5349240" cy="2468880"/>
          </a:xfrm>
          <a:prstGeom prst="roundRect">
            <a:avLst>
              <a:gd name="adj" fmla="val 1852"/>
            </a:avLst>
          </a:prstGeom>
          <a:solidFill>
            <a:srgbClr val="FFFFFF"/>
          </a:solidFill>
          <a:ln w="9525">
            <a:solidFill>
              <a:srgbClr val="C9A876"/>
            </a:solidFill>
            <a:prstDash val="solid"/>
          </a:ln>
        </p:spPr>
      </p:sp>
      <p:sp>
        <p:nvSpPr>
          <p:cNvPr id="10" name="Text 8"/>
          <p:cNvSpPr/>
          <p:nvPr/>
        </p:nvSpPr>
        <p:spPr>
          <a:xfrm>
            <a:off x="6428232" y="1664208"/>
            <a:ext cx="5074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QUÉ REPRESENTA</a:t>
            </a:r>
            <a:endParaRPr lang="en-US" sz="900" dirty="0"/>
          </a:p>
        </p:txBody>
      </p:sp>
      <p:sp>
        <p:nvSpPr>
          <p:cNvPr id="11" name="Text 9"/>
          <p:cNvSpPr/>
          <p:nvPr/>
        </p:nvSpPr>
        <p:spPr>
          <a:xfrm>
            <a:off x="6428232" y="1975104"/>
            <a:ext cx="5020056" cy="1938528"/>
          </a:xfrm>
          <a:prstGeom prst="rect">
            <a:avLst/>
          </a:prstGeom>
          <a:noFill/>
          <a:ln/>
        </p:spPr>
        <p:txBody>
          <a:bodyPr wrap="square" rtlCol="0" anchor="t"/>
          <a:lstStyle/>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LST = temperatura de la superficie del dosel.</a:t>
            </a:r>
            <a:endParaRPr lang="en-US" sz="1200" dirty="0"/>
          </a:p>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Una planta con agua transpira y se enfría. Una planta en estrés hídrico cierra estomas y se calienta.</a:t>
            </a:r>
            <a:endParaRPr lang="en-US" sz="1200" dirty="0"/>
          </a:p>
          <a:p>
            <a:pPr indent="0" marL="0">
              <a:spcAft>
                <a:spcPts val="400"/>
              </a:spcAft>
              <a:buNone/>
            </a:pPr>
            <a:r>
              <a:rPr lang="en-US" sz="1200" b="1" dirty="0">
                <a:solidFill>
                  <a:srgbClr val="1B4332"/>
                </a:solidFill>
                <a:latin typeface="Calibri" pitchFamily="34" charset="0"/>
                <a:ea typeface="Calibri" pitchFamily="34" charset="-122"/>
                <a:cs typeface="Calibri" pitchFamily="34" charset="-120"/>
              </a:rPr>
              <a:t>El delta LST − T_aire es un proxy directo de estrés: aparece 7-14 días ANTES de que el NDVI caiga.</a:t>
            </a:r>
            <a:endParaRPr lang="en-US" sz="1200" dirty="0"/>
          </a:p>
        </p:txBody>
      </p:sp>
      <p:sp>
        <p:nvSpPr>
          <p:cNvPr id="12" name="Shape 10"/>
          <p:cNvSpPr/>
          <p:nvPr/>
        </p:nvSpPr>
        <p:spPr>
          <a:xfrm>
            <a:off x="548640" y="4206240"/>
            <a:ext cx="11064240" cy="1920240"/>
          </a:xfrm>
          <a:prstGeom prst="roundRect">
            <a:avLst>
              <a:gd name="adj" fmla="val 2381"/>
            </a:avLst>
          </a:prstGeom>
          <a:solidFill>
            <a:srgbClr val="FFFFFF"/>
          </a:solidFill>
          <a:ln w="9525">
            <a:solidFill>
              <a:srgbClr val="C9A876"/>
            </a:solidFill>
            <a:prstDash val="solid"/>
          </a:ln>
        </p:spPr>
      </p:sp>
      <p:sp>
        <p:nvSpPr>
          <p:cNvPr id="13" name="Text 11"/>
          <p:cNvSpPr/>
          <p:nvPr/>
        </p:nvSpPr>
        <p:spPr>
          <a:xfrm>
            <a:off x="713232" y="4315968"/>
            <a:ext cx="10789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CÓMO SE LEE</a:t>
            </a:r>
            <a:endParaRPr lang="en-US" sz="900" dirty="0"/>
          </a:p>
        </p:txBody>
      </p:sp>
      <p:sp>
        <p:nvSpPr>
          <p:cNvPr id="14" name="Text 12"/>
          <p:cNvSpPr/>
          <p:nvPr/>
        </p:nvSpPr>
        <p:spPr>
          <a:xfrm>
            <a:off x="713232" y="4626864"/>
            <a:ext cx="10735056" cy="1389888"/>
          </a:xfrm>
          <a:prstGeom prst="rect">
            <a:avLst/>
          </a:prstGeom>
          <a:noFill/>
          <a:ln/>
        </p:spPr>
        <p:txBody>
          <a:bodyPr wrap="square" rtlCol="0" anchor="t"/>
          <a:lstStyle/>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Ej. real Encineño: LST 39 °C con aire ~24 °C → delta +15 °C. Lectura: estrés térmico alto, coherente con olivar de secano en sequía estival.</a:t>
            </a:r>
            <a:endParaRPr lang="en-US" sz="1200" dirty="0"/>
          </a:p>
          <a:p>
            <a:pPr indent="0" marL="0">
              <a:spcAft>
                <a:spcPts val="400"/>
              </a:spcAft>
              <a:buNone/>
            </a:pPr>
            <a:r>
              <a:rPr lang="en-US" sz="1200" dirty="0">
                <a:solidFill>
                  <a:srgbClr val="6B6B5C"/>
                </a:solidFill>
                <a:latin typeface="Calibri" pitchFamily="34" charset="0"/>
                <a:ea typeface="Calibri" pitchFamily="34" charset="-122"/>
                <a:cs typeface="Calibri" pitchFamily="34" charset="-120"/>
              </a:rPr>
              <a:t>Se cruza con NDMI (agua en hoja) y con la previsión de calor: si los tres apuntan a estrés, la alerta es sólida aunque el NDVI todavía no haya bajado.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0E8"/>
        </a:solidFill>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indent="0" marL="0">
              <a:buNone/>
            </a:pPr>
            <a:r>
              <a:rPr lang="en-US" sz="1000" spc="200" kern="0" dirty="0">
                <a:solidFill>
                  <a:srgbClr val="6B6B5C"/>
                </a:solidFill>
                <a:latin typeface="Courier New" pitchFamily="34" charset="0"/>
                <a:ea typeface="Courier New" pitchFamily="34" charset="-122"/>
                <a:cs typeface="Courier New" pitchFamily="34" charset="-120"/>
              </a:rPr>
              <a:t>§ 06 · CONTEXTO CLIMÁTICO — ERA5</a:t>
            </a:r>
            <a:endParaRPr lang="en-US" sz="1000" dirty="0"/>
          </a:p>
        </p:txBody>
      </p:sp>
      <p:sp>
        <p:nvSpPr>
          <p:cNvPr id="3" name="Text 1"/>
          <p:cNvSpPr/>
          <p:nvPr/>
        </p:nvSpPr>
        <p:spPr>
          <a:xfrm>
            <a:off x="548640" y="6446520"/>
            <a:ext cx="10972800" cy="274320"/>
          </a:xfrm>
          <a:prstGeom prst="rect">
            <a:avLst/>
          </a:prstGeom>
          <a:noFill/>
          <a:ln/>
        </p:spPr>
        <p:txBody>
          <a:bodyPr wrap="square" rtlCol="0" anchor="ctr"/>
          <a:lstStyle/>
          <a:p>
            <a:pPr indent="0" marL="0">
              <a:buNone/>
            </a:pPr>
            <a:r>
              <a:rPr lang="en-US" sz="700" spc="200" kern="0" dirty="0">
                <a:solidFill>
                  <a:srgbClr val="6B6B5C"/>
                </a:solidFill>
                <a:latin typeface="Courier New" pitchFamily="34" charset="0"/>
                <a:ea typeface="Courier New" pitchFamily="34" charset="-122"/>
                <a:cs typeface="Courier New" pitchFamily="34" charset="-120"/>
              </a:rPr>
              <a:t>AGROM · FITOLINK · INTELIGENCIA AGRARIA DE PRECISIÓN · 2026</a:t>
            </a:r>
            <a:endParaRPr lang="en-US" sz="700" dirty="0"/>
          </a:p>
        </p:txBody>
      </p:sp>
      <p:sp>
        <p:nvSpPr>
          <p:cNvPr id="4" name="Text 2"/>
          <p:cNvSpPr/>
          <p:nvPr/>
        </p:nvSpPr>
        <p:spPr>
          <a:xfrm>
            <a:off x="548640" y="685800"/>
            <a:ext cx="11338560" cy="640080"/>
          </a:xfrm>
          <a:prstGeom prst="rect">
            <a:avLst/>
          </a:prstGeom>
          <a:noFill/>
          <a:ln/>
        </p:spPr>
        <p:txBody>
          <a:bodyPr wrap="square" rtlCol="0" anchor="ctr"/>
          <a:lstStyle/>
          <a:p>
            <a:pPr indent="0" marL="0">
              <a:buNone/>
            </a:pPr>
            <a:r>
              <a:rPr lang="en-US" sz="2600" b="1" dirty="0">
                <a:solidFill>
                  <a:srgbClr val="1B4332"/>
                </a:solidFill>
                <a:latin typeface="Georgia" pitchFamily="34" charset="0"/>
                <a:ea typeface="Georgia" pitchFamily="34" charset="-122"/>
                <a:cs typeface="Georgia" pitchFamily="34" charset="-120"/>
              </a:rPr>
              <a:t>La normal de 30 años contra los últimos 30 días</a:t>
            </a:r>
            <a:endParaRPr lang="en-US" sz="2600" dirty="0"/>
          </a:p>
        </p:txBody>
      </p:sp>
      <p:sp>
        <p:nvSpPr>
          <p:cNvPr id="5" name="Shape 3"/>
          <p:cNvSpPr/>
          <p:nvPr/>
        </p:nvSpPr>
        <p:spPr>
          <a:xfrm>
            <a:off x="548640" y="1371600"/>
            <a:ext cx="1005840" cy="0"/>
          </a:xfrm>
          <a:prstGeom prst="line">
            <a:avLst/>
          </a:prstGeom>
          <a:noFill/>
          <a:ln w="19050">
            <a:solidFill>
              <a:srgbClr val="C9A876"/>
            </a:solidFill>
            <a:prstDash val="solid"/>
          </a:ln>
        </p:spPr>
      </p:sp>
      <p:sp>
        <p:nvSpPr>
          <p:cNvPr id="6" name="Shape 4"/>
          <p:cNvSpPr/>
          <p:nvPr/>
        </p:nvSpPr>
        <p:spPr>
          <a:xfrm>
            <a:off x="548640" y="1554480"/>
            <a:ext cx="5532120" cy="2468880"/>
          </a:xfrm>
          <a:prstGeom prst="roundRect">
            <a:avLst>
              <a:gd name="adj" fmla="val 1852"/>
            </a:avLst>
          </a:prstGeom>
          <a:solidFill>
            <a:srgbClr val="FFFFFF"/>
          </a:solidFill>
          <a:ln w="9525">
            <a:solidFill>
              <a:srgbClr val="C9A876"/>
            </a:solidFill>
            <a:prstDash val="solid"/>
          </a:ln>
        </p:spPr>
      </p:sp>
      <p:sp>
        <p:nvSpPr>
          <p:cNvPr id="7" name="Text 5"/>
          <p:cNvSpPr/>
          <p:nvPr/>
        </p:nvSpPr>
        <p:spPr>
          <a:xfrm>
            <a:off x="713232" y="1664208"/>
            <a:ext cx="525780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DOS LÍNEAS (climate_context.py)</a:t>
            </a:r>
            <a:endParaRPr lang="en-US" sz="900" dirty="0"/>
          </a:p>
        </p:txBody>
      </p:sp>
      <p:sp>
        <p:nvSpPr>
          <p:cNvPr id="8" name="Text 6"/>
          <p:cNvSpPr/>
          <p:nvPr/>
        </p:nvSpPr>
        <p:spPr>
          <a:xfrm>
            <a:off x="713232" y="1975104"/>
            <a:ext cx="5202936" cy="1938528"/>
          </a:xfrm>
          <a:prstGeom prst="rect">
            <a:avLst/>
          </a:prstGeom>
          <a:noFill/>
          <a:ln/>
        </p:spPr>
        <p:txBody>
          <a:bodyPr wrap="square" rtlCol="0" anchor="t"/>
          <a:lstStyle/>
          <a:p>
            <a:pPr indent="0" marL="0">
              <a:spcAft>
                <a:spcPts val="500"/>
              </a:spcAft>
              <a:buNone/>
            </a:pPr>
            <a:r>
              <a:rPr lang="en-US" sz="1200" b="1" dirty="0">
                <a:solidFill>
                  <a:srgbClr val="0F2A22"/>
                </a:solidFill>
                <a:latin typeface="Calibri" pitchFamily="34" charset="0"/>
                <a:ea typeface="Calibri" pitchFamily="34" charset="-122"/>
                <a:cs typeface="Calibri" pitchFamily="34" charset="-120"/>
              </a:rPr>
              <a:t>Baseline — ERA5 reanálisis 1995–2024 (ciclo WMO 30 años)</a:t>
            </a:r>
            <a:endParaRPr lang="en-US" sz="1200" dirty="0"/>
          </a:p>
          <a:p>
            <a:pPr indent="0" marL="0">
              <a:spcAft>
                <a:spcPts val="600"/>
              </a:spcAft>
              <a:buNone/>
            </a:pPr>
            <a:r>
              <a:rPr lang="en-US" sz="1200" b="1" dirty="0">
                <a:solidFill>
                  <a:srgbClr val="0F2A22"/>
                </a:solidFill>
                <a:latin typeface="Calibri" pitchFamily="34" charset="0"/>
                <a:ea typeface="Calibri" pitchFamily="34" charset="-122"/>
                <a:cs typeface="Calibri" pitchFamily="34" charset="-120"/>
              </a:rPr>
              <a:t>Reciente — ERA5 últimos 30 días reales</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Variables: precip_sum · temp_mean/max/min · ET0 FAO</a:t>
            </a:r>
            <a:endParaRPr lang="en-US" sz="1200" dirty="0"/>
          </a:p>
          <a:p>
            <a:pPr indent="0" marL="0">
              <a:spcAft>
                <a:spcPts val="400"/>
              </a:spcAft>
              <a:buNone/>
            </a:pPr>
            <a:r>
              <a:rPr lang="en-US" sz="1000" dirty="0">
                <a:solidFill>
                  <a:srgbClr val="6B6B5C"/>
                </a:solidFill>
                <a:latin typeface="Calibri" pitchFamily="34" charset="0"/>
                <a:ea typeface="Calibri" pitchFamily="34" charset="-122"/>
                <a:cs typeface="Calibri" pitchFamily="34" charset="-120"/>
              </a:rPr>
              <a:t>Fallback TerraClimate (MPC) si Open-Meteo cae</a:t>
            </a:r>
            <a:endParaRPr lang="en-US" sz="1200" dirty="0"/>
          </a:p>
        </p:txBody>
      </p:sp>
      <p:sp>
        <p:nvSpPr>
          <p:cNvPr id="9" name="Shape 7"/>
          <p:cNvSpPr/>
          <p:nvPr/>
        </p:nvSpPr>
        <p:spPr>
          <a:xfrm>
            <a:off x="6263640" y="1554480"/>
            <a:ext cx="5349240" cy="2468880"/>
          </a:xfrm>
          <a:prstGeom prst="roundRect">
            <a:avLst>
              <a:gd name="adj" fmla="val 1852"/>
            </a:avLst>
          </a:prstGeom>
          <a:solidFill>
            <a:srgbClr val="FFFFFF"/>
          </a:solidFill>
          <a:ln w="9525">
            <a:solidFill>
              <a:srgbClr val="C9A876"/>
            </a:solidFill>
            <a:prstDash val="solid"/>
          </a:ln>
        </p:spPr>
      </p:sp>
      <p:sp>
        <p:nvSpPr>
          <p:cNvPr id="10" name="Text 8"/>
          <p:cNvSpPr/>
          <p:nvPr/>
        </p:nvSpPr>
        <p:spPr>
          <a:xfrm>
            <a:off x="6428232" y="1664208"/>
            <a:ext cx="5074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CÁLCULOS</a:t>
            </a:r>
            <a:endParaRPr lang="en-US" sz="900" dirty="0"/>
          </a:p>
        </p:txBody>
      </p:sp>
      <p:sp>
        <p:nvSpPr>
          <p:cNvPr id="11" name="Text 9"/>
          <p:cNvSpPr/>
          <p:nvPr/>
        </p:nvSpPr>
        <p:spPr>
          <a:xfrm>
            <a:off x="6428232" y="1975104"/>
            <a:ext cx="5020056" cy="1938528"/>
          </a:xfrm>
          <a:prstGeom prst="rect">
            <a:avLst/>
          </a:prstGeom>
          <a:noFill/>
          <a:ln/>
        </p:spPr>
        <p:txBody>
          <a:bodyPr wrap="square" rtlCol="0" anchor="t"/>
          <a:lstStyle/>
          <a:p>
            <a:pPr indent="0" marL="0">
              <a:spcAft>
                <a:spcPts val="400"/>
              </a:spcAft>
              <a:buNone/>
            </a:pPr>
            <a:r>
              <a:rPr lang="en-US" sz="1100" dirty="0">
                <a:solidFill>
                  <a:srgbClr val="0F2A22"/>
                </a:solidFill>
                <a:latin typeface="Courier New" pitchFamily="34" charset="0"/>
                <a:ea typeface="Courier New" pitchFamily="34" charset="-122"/>
                <a:cs typeface="Courier New" pitchFamily="34" charset="-120"/>
              </a:rPr>
              <a:t>precip_%_normal = 100 · (30d / normal_mes)</a:t>
            </a:r>
            <a:endParaRPr lang="en-US" sz="1100" dirty="0"/>
          </a:p>
          <a:p>
            <a:pPr indent="0" marL="0">
              <a:spcAft>
                <a:spcPts val="400"/>
              </a:spcAft>
              <a:buNone/>
            </a:pPr>
            <a:r>
              <a:rPr lang="en-US" sz="1100" dirty="0">
                <a:solidFill>
                  <a:srgbClr val="0F2A22"/>
                </a:solidFill>
                <a:latin typeface="Courier New" pitchFamily="34" charset="0"/>
                <a:ea typeface="Courier New" pitchFamily="34" charset="-122"/>
                <a:cs typeface="Courier New" pitchFamily="34" charset="-120"/>
              </a:rPr>
              <a:t>sequía = severe&lt;25 · moderate&lt;50 · mild&lt;75</a:t>
            </a:r>
            <a:endParaRPr lang="en-US" sz="1100" dirty="0"/>
          </a:p>
          <a:p>
            <a:pPr indent="0" marL="0">
              <a:spcAft>
                <a:spcPts val="600"/>
              </a:spcAft>
              <a:buNone/>
            </a:pPr>
            <a:r>
              <a:rPr lang="en-US" sz="1100" dirty="0">
                <a:solidFill>
                  <a:srgbClr val="0F2A22"/>
                </a:solidFill>
                <a:latin typeface="Courier New" pitchFamily="34" charset="0"/>
                <a:ea typeface="Courier New" pitchFamily="34" charset="-122"/>
                <a:cs typeface="Courier New" pitchFamily="34" charset="-120"/>
              </a:rPr>
              <a:t>aridez = precip_anual / PET_anual (Köppen)</a:t>
            </a:r>
            <a:endParaRPr lang="en-US" sz="1100" dirty="0"/>
          </a:p>
          <a:p>
            <a:pPr indent="0" marL="0">
              <a:spcAft>
                <a:spcPts val="400"/>
              </a:spcAft>
              <a:buNone/>
            </a:pPr>
            <a:r>
              <a:rPr lang="en-US" sz="1100" dirty="0">
                <a:solidFill>
                  <a:srgbClr val="6B6B5C"/>
                </a:solidFill>
                <a:latin typeface="Calibri" pitchFamily="34" charset="0"/>
                <a:ea typeface="Calibri" pitchFamily="34" charset="-122"/>
                <a:cs typeface="Calibri" pitchFamily="34" charset="-120"/>
              </a:rPr>
              <a:t>ET0 por FAO-56 (evapotranspiración de referencia).</a:t>
            </a:r>
            <a:endParaRPr lang="en-US" sz="1100" dirty="0"/>
          </a:p>
        </p:txBody>
      </p:sp>
      <p:sp>
        <p:nvSpPr>
          <p:cNvPr id="12" name="Shape 10"/>
          <p:cNvSpPr/>
          <p:nvPr/>
        </p:nvSpPr>
        <p:spPr>
          <a:xfrm>
            <a:off x="548640" y="4206240"/>
            <a:ext cx="11064240" cy="1920240"/>
          </a:xfrm>
          <a:prstGeom prst="roundRect">
            <a:avLst>
              <a:gd name="adj" fmla="val 2381"/>
            </a:avLst>
          </a:prstGeom>
          <a:solidFill>
            <a:srgbClr val="FFFFFF"/>
          </a:solidFill>
          <a:ln w="9525">
            <a:solidFill>
              <a:srgbClr val="C9A876"/>
            </a:solidFill>
            <a:prstDash val="solid"/>
          </a:ln>
        </p:spPr>
      </p:sp>
      <p:sp>
        <p:nvSpPr>
          <p:cNvPr id="13" name="Text 11"/>
          <p:cNvSpPr/>
          <p:nvPr/>
        </p:nvSpPr>
        <p:spPr>
          <a:xfrm>
            <a:off x="713232" y="4315968"/>
            <a:ext cx="10789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CÓMO SE LEE</a:t>
            </a:r>
            <a:endParaRPr lang="en-US" sz="900" dirty="0"/>
          </a:p>
        </p:txBody>
      </p:sp>
      <p:sp>
        <p:nvSpPr>
          <p:cNvPr id="14" name="Text 12"/>
          <p:cNvSpPr/>
          <p:nvPr/>
        </p:nvSpPr>
        <p:spPr>
          <a:xfrm>
            <a:off x="713232" y="4626864"/>
            <a:ext cx="10735056" cy="1389888"/>
          </a:xfrm>
          <a:prstGeom prst="rect">
            <a:avLst/>
          </a:prstGeom>
          <a:noFill/>
          <a:ln/>
        </p:spPr>
        <p:txBody>
          <a:bodyPr wrap="square" rtlCol="0" anchor="t"/>
          <a:lstStyle/>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Ej. real: 2 mm acumulados en 31 días, ET0 ~204 mm, 0 días de lluvia → déficit hídrico severo. Pone el NDVI/LST en contexto: el cultivo no está mal "porque sí", está en sequía documentada.</a:t>
            </a:r>
            <a:endParaRPr lang="en-US" sz="1200" dirty="0"/>
          </a:p>
          <a:p>
            <a:pPr indent="0" marL="0">
              <a:spcAft>
                <a:spcPts val="400"/>
              </a:spcAft>
              <a:buNone/>
            </a:pPr>
            <a:r>
              <a:rPr lang="en-US" sz="1200" dirty="0">
                <a:solidFill>
                  <a:srgbClr val="6B6B5C"/>
                </a:solidFill>
                <a:latin typeface="Calibri" pitchFamily="34" charset="0"/>
                <a:ea typeface="Calibri" pitchFamily="34" charset="-122"/>
                <a:cs typeface="Calibri" pitchFamily="34" charset="-120"/>
              </a:rPr>
              <a:t>Es la memoria larga del sistema: distingue "año seco" de "parcela con problema".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0E8"/>
        </a:solidFill>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indent="0" marL="0">
              <a:buNone/>
            </a:pPr>
            <a:r>
              <a:rPr lang="en-US" sz="1000" spc="200" kern="0" dirty="0">
                <a:solidFill>
                  <a:srgbClr val="6B6B5C"/>
                </a:solidFill>
                <a:latin typeface="Courier New" pitchFamily="34" charset="0"/>
                <a:ea typeface="Courier New" pitchFamily="34" charset="-122"/>
                <a:cs typeface="Courier New" pitchFamily="34" charset="-120"/>
              </a:rPr>
              <a:t>§ 07 · SUELO — SoilGrids v2 (ISRIC)</a:t>
            </a:r>
            <a:endParaRPr lang="en-US" sz="1000" dirty="0"/>
          </a:p>
        </p:txBody>
      </p:sp>
      <p:sp>
        <p:nvSpPr>
          <p:cNvPr id="3" name="Text 1"/>
          <p:cNvSpPr/>
          <p:nvPr/>
        </p:nvSpPr>
        <p:spPr>
          <a:xfrm>
            <a:off x="548640" y="6446520"/>
            <a:ext cx="10972800" cy="274320"/>
          </a:xfrm>
          <a:prstGeom prst="rect">
            <a:avLst/>
          </a:prstGeom>
          <a:noFill/>
          <a:ln/>
        </p:spPr>
        <p:txBody>
          <a:bodyPr wrap="square" rtlCol="0" anchor="ctr"/>
          <a:lstStyle/>
          <a:p>
            <a:pPr indent="0" marL="0">
              <a:buNone/>
            </a:pPr>
            <a:r>
              <a:rPr lang="en-US" sz="700" spc="200" kern="0" dirty="0">
                <a:solidFill>
                  <a:srgbClr val="6B6B5C"/>
                </a:solidFill>
                <a:latin typeface="Courier New" pitchFamily="34" charset="0"/>
                <a:ea typeface="Courier New" pitchFamily="34" charset="-122"/>
                <a:cs typeface="Courier New" pitchFamily="34" charset="-120"/>
              </a:rPr>
              <a:t>AGROM · FITOLINK · INTELIGENCIA AGRARIA DE PRECISIÓN · 2026</a:t>
            </a:r>
            <a:endParaRPr lang="en-US" sz="700" dirty="0"/>
          </a:p>
        </p:txBody>
      </p:sp>
      <p:sp>
        <p:nvSpPr>
          <p:cNvPr id="4" name="Text 2"/>
          <p:cNvSpPr/>
          <p:nvPr/>
        </p:nvSpPr>
        <p:spPr>
          <a:xfrm>
            <a:off x="548640" y="685800"/>
            <a:ext cx="10972800" cy="640080"/>
          </a:xfrm>
          <a:prstGeom prst="rect">
            <a:avLst/>
          </a:prstGeom>
          <a:noFill/>
          <a:ln/>
        </p:spPr>
        <p:txBody>
          <a:bodyPr wrap="square" rtlCol="0" anchor="ctr"/>
          <a:lstStyle/>
          <a:p>
            <a:pPr indent="0" marL="0">
              <a:buNone/>
            </a:pPr>
            <a:r>
              <a:rPr lang="en-US" sz="2800" b="1" dirty="0">
                <a:solidFill>
                  <a:srgbClr val="1B4332"/>
                </a:solidFill>
                <a:latin typeface="Georgia" pitchFamily="34" charset="0"/>
                <a:ea typeface="Georgia" pitchFamily="34" charset="-122"/>
                <a:cs typeface="Georgia" pitchFamily="34" charset="-120"/>
              </a:rPr>
              <a:t>Qué hay bajo la parcela</a:t>
            </a:r>
            <a:endParaRPr lang="en-US" sz="2800" dirty="0"/>
          </a:p>
        </p:txBody>
      </p:sp>
      <p:sp>
        <p:nvSpPr>
          <p:cNvPr id="5" name="Shape 3"/>
          <p:cNvSpPr/>
          <p:nvPr/>
        </p:nvSpPr>
        <p:spPr>
          <a:xfrm>
            <a:off x="548640" y="1371600"/>
            <a:ext cx="1005840" cy="0"/>
          </a:xfrm>
          <a:prstGeom prst="line">
            <a:avLst/>
          </a:prstGeom>
          <a:noFill/>
          <a:ln w="19050">
            <a:solidFill>
              <a:srgbClr val="C9A876"/>
            </a:solidFill>
            <a:prstDash val="solid"/>
          </a:ln>
        </p:spPr>
      </p:sp>
      <p:sp>
        <p:nvSpPr>
          <p:cNvPr id="6" name="Shape 4"/>
          <p:cNvSpPr/>
          <p:nvPr/>
        </p:nvSpPr>
        <p:spPr>
          <a:xfrm>
            <a:off x="548640" y="1554480"/>
            <a:ext cx="5532120" cy="2468880"/>
          </a:xfrm>
          <a:prstGeom prst="roundRect">
            <a:avLst>
              <a:gd name="adj" fmla="val 1852"/>
            </a:avLst>
          </a:prstGeom>
          <a:solidFill>
            <a:srgbClr val="FFFFFF"/>
          </a:solidFill>
          <a:ln w="9525">
            <a:solidFill>
              <a:srgbClr val="C9A876"/>
            </a:solidFill>
            <a:prstDash val="solid"/>
          </a:ln>
        </p:spPr>
      </p:sp>
      <p:sp>
        <p:nvSpPr>
          <p:cNvPr id="7" name="Text 5"/>
          <p:cNvSpPr/>
          <p:nvPr/>
        </p:nvSpPr>
        <p:spPr>
          <a:xfrm>
            <a:off x="713232" y="1664208"/>
            <a:ext cx="525780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PROPIEDADES (soilService.ts · 0-30 cm)</a:t>
            </a:r>
            <a:endParaRPr lang="en-US" sz="900" dirty="0"/>
          </a:p>
        </p:txBody>
      </p:sp>
      <p:sp>
        <p:nvSpPr>
          <p:cNvPr id="8" name="Text 6"/>
          <p:cNvSpPr/>
          <p:nvPr/>
        </p:nvSpPr>
        <p:spPr>
          <a:xfrm>
            <a:off x="713232" y="1975104"/>
            <a:ext cx="5202936" cy="1938528"/>
          </a:xfrm>
          <a:prstGeom prst="rect">
            <a:avLst/>
          </a:prstGeom>
          <a:noFill/>
          <a:ln/>
        </p:spPr>
        <p:txBody>
          <a:bodyPr wrap="square" rtlCol="0" anchor="t"/>
          <a:lstStyle/>
          <a:p>
            <a:pPr indent="0" marL="0">
              <a:spcAft>
                <a:spcPts val="400"/>
              </a:spcAft>
              <a:buNone/>
            </a:pPr>
            <a:r>
              <a:rPr lang="en-US" sz="1200" b="1" dirty="0">
                <a:solidFill>
                  <a:srgbClr val="0F2A22"/>
                </a:solidFill>
                <a:latin typeface="Calibri" pitchFamily="34" charset="0"/>
                <a:ea typeface="Calibri" pitchFamily="34" charset="-122"/>
                <a:cs typeface="Calibri" pitchFamily="34" charset="-120"/>
              </a:rPr>
              <a:t>Textura USDA: arcilla / arena / limo (%)</a:t>
            </a:r>
            <a:endParaRPr lang="en-US" sz="1200" dirty="0"/>
          </a:p>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Capacidad de campo (agua útil, wv0033)</a:t>
            </a:r>
            <a:endParaRPr lang="en-US" sz="1200" dirty="0"/>
          </a:p>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Carbono orgánico (soc)</a:t>
            </a:r>
            <a:endParaRPr lang="en-US" sz="1200" dirty="0"/>
          </a:p>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Densidad aparente (bdod)</a:t>
            </a:r>
            <a:endParaRPr lang="en-US" sz="1200" dirty="0"/>
          </a:p>
          <a:p>
            <a:pPr indent="0" marL="0">
              <a:spcAft>
                <a:spcPts val="400"/>
              </a:spcAft>
              <a:buNone/>
            </a:pPr>
            <a:r>
              <a:rPr lang="en-US" sz="1100" dirty="0">
                <a:solidFill>
                  <a:srgbClr val="6B6B5C"/>
                </a:solidFill>
                <a:latin typeface="Calibri" pitchFamily="34" charset="0"/>
                <a:ea typeface="Calibri" pitchFamily="34" charset="-122"/>
                <a:cs typeface="Calibri" pitchFamily="34" charset="-120"/>
              </a:rPr>
              <a:t>Muestreo en el centroide · 250 m · media ponderada de capas 0-5, 5-15, 15-30 cm</a:t>
            </a:r>
            <a:endParaRPr lang="en-US" sz="1200" dirty="0"/>
          </a:p>
        </p:txBody>
      </p:sp>
      <p:sp>
        <p:nvSpPr>
          <p:cNvPr id="9" name="Shape 7"/>
          <p:cNvSpPr/>
          <p:nvPr/>
        </p:nvSpPr>
        <p:spPr>
          <a:xfrm>
            <a:off x="6263640" y="1554480"/>
            <a:ext cx="5349240" cy="2468880"/>
          </a:xfrm>
          <a:prstGeom prst="roundRect">
            <a:avLst>
              <a:gd name="adj" fmla="val 1852"/>
            </a:avLst>
          </a:prstGeom>
          <a:solidFill>
            <a:srgbClr val="FFFFFF"/>
          </a:solidFill>
          <a:ln w="9525">
            <a:solidFill>
              <a:srgbClr val="C9A876"/>
            </a:solidFill>
            <a:prstDash val="solid"/>
          </a:ln>
        </p:spPr>
      </p:sp>
      <p:sp>
        <p:nvSpPr>
          <p:cNvPr id="10" name="Text 8"/>
          <p:cNvSpPr/>
          <p:nvPr/>
        </p:nvSpPr>
        <p:spPr>
          <a:xfrm>
            <a:off x="6428232" y="1664208"/>
            <a:ext cx="5074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QUÉ REPRESENTA</a:t>
            </a:r>
            <a:endParaRPr lang="en-US" sz="900" dirty="0"/>
          </a:p>
        </p:txBody>
      </p:sp>
      <p:sp>
        <p:nvSpPr>
          <p:cNvPr id="11" name="Text 9"/>
          <p:cNvSpPr/>
          <p:nvPr/>
        </p:nvSpPr>
        <p:spPr>
          <a:xfrm>
            <a:off x="6428232" y="1975104"/>
            <a:ext cx="5020056" cy="1938528"/>
          </a:xfrm>
          <a:prstGeom prst="rect">
            <a:avLst/>
          </a:prstGeom>
          <a:noFill/>
          <a:ln/>
        </p:spPr>
        <p:txBody>
          <a:bodyPr wrap="square" rtlCol="0" anchor="t"/>
          <a:lstStyle/>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La textura define cuánta agua retiene el suelo y cuánta drena.</a:t>
            </a:r>
            <a:endParaRPr lang="en-US" sz="1200" dirty="0"/>
          </a:p>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La capacidad de campo alimenta el balance hídrico de la decisión de riego (ficha 11).</a:t>
            </a:r>
            <a:endParaRPr lang="en-US" sz="1200" dirty="0"/>
          </a:p>
          <a:p>
            <a:pPr indent="0" marL="0">
              <a:spcAft>
                <a:spcPts val="400"/>
              </a:spcAft>
              <a:buNone/>
            </a:pPr>
            <a:r>
              <a:rPr lang="en-US" sz="1200" b="1" dirty="0">
                <a:solidFill>
                  <a:srgbClr val="1B4332"/>
                </a:solidFill>
                <a:latin typeface="Calibri" pitchFamily="34" charset="0"/>
                <a:ea typeface="Calibri" pitchFamily="34" charset="-122"/>
                <a:cs typeface="Calibri" pitchFamily="34" charset="-120"/>
              </a:rPr>
              <a:t>El carbono orgánico es proxy de fertilidad y estructura.</a:t>
            </a:r>
            <a:endParaRPr lang="en-US" sz="1200" dirty="0"/>
          </a:p>
        </p:txBody>
      </p:sp>
      <p:sp>
        <p:nvSpPr>
          <p:cNvPr id="12" name="Shape 10"/>
          <p:cNvSpPr/>
          <p:nvPr/>
        </p:nvSpPr>
        <p:spPr>
          <a:xfrm>
            <a:off x="548640" y="4206240"/>
            <a:ext cx="11064240" cy="1920240"/>
          </a:xfrm>
          <a:prstGeom prst="roundRect">
            <a:avLst>
              <a:gd name="adj" fmla="val 2381"/>
            </a:avLst>
          </a:prstGeom>
          <a:solidFill>
            <a:srgbClr val="FFFFFF"/>
          </a:solidFill>
          <a:ln w="9525">
            <a:solidFill>
              <a:srgbClr val="C9A876"/>
            </a:solidFill>
            <a:prstDash val="solid"/>
          </a:ln>
        </p:spPr>
      </p:sp>
      <p:sp>
        <p:nvSpPr>
          <p:cNvPr id="13" name="Text 11"/>
          <p:cNvSpPr/>
          <p:nvPr/>
        </p:nvSpPr>
        <p:spPr>
          <a:xfrm>
            <a:off x="713232" y="4315968"/>
            <a:ext cx="10789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CÓMO SE LEE</a:t>
            </a:r>
            <a:endParaRPr lang="en-US" sz="900" dirty="0"/>
          </a:p>
        </p:txBody>
      </p:sp>
      <p:sp>
        <p:nvSpPr>
          <p:cNvPr id="14" name="Text 12"/>
          <p:cNvSpPr/>
          <p:nvPr/>
        </p:nvSpPr>
        <p:spPr>
          <a:xfrm>
            <a:off x="713232" y="4626864"/>
            <a:ext cx="10735056" cy="1389888"/>
          </a:xfrm>
          <a:prstGeom prst="rect">
            <a:avLst/>
          </a:prstGeom>
          <a:noFill/>
          <a:ln/>
        </p:spPr>
        <p:txBody>
          <a:bodyPr wrap="square" rtlCol="0" anchor="t"/>
          <a:lstStyle/>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Ej. real Encineño: "Franco arcilloso" (35,4% arcilla · 24,9% arena · 39,8% limo), agua útil 32%, carbono 15 g/kg, densidad 1,49. Un franco arcilloso retiene bien el agua pero drena lento.</a:t>
            </a:r>
            <a:endParaRPr lang="en-US" sz="1200" dirty="0"/>
          </a:p>
          <a:p>
            <a:pPr indent="0" marL="0">
              <a:spcAft>
                <a:spcPts val="400"/>
              </a:spcAft>
              <a:buNone/>
            </a:pPr>
            <a:r>
              <a:rPr lang="en-US" sz="1200" dirty="0">
                <a:solidFill>
                  <a:srgbClr val="6B6B5C"/>
                </a:solidFill>
                <a:latin typeface="Calibri" pitchFamily="34" charset="0"/>
                <a:ea typeface="Calibri" pitchFamily="34" charset="-122"/>
                <a:cs typeface="Calibri" pitchFamily="34" charset="-120"/>
              </a:rPr>
              <a:t>No cambia con el tiempo: es el sustrato fijo sobre el que se interpreta todo lo demás.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0E8"/>
        </a:solidFill>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indent="0" marL="0">
              <a:buNone/>
            </a:pPr>
            <a:r>
              <a:rPr lang="en-US" sz="1000" spc="200" kern="0" dirty="0">
                <a:solidFill>
                  <a:srgbClr val="6B6B5C"/>
                </a:solidFill>
                <a:latin typeface="Courier New" pitchFamily="34" charset="0"/>
                <a:ea typeface="Courier New" pitchFamily="34" charset="-122"/>
                <a:cs typeface="Courier New" pitchFamily="34" charset="-120"/>
              </a:rPr>
              <a:t>§ 08 · METEO OPERATIVA — SEMÁFORO DE APLICACIÓN</a:t>
            </a:r>
            <a:endParaRPr lang="en-US" sz="1000" dirty="0"/>
          </a:p>
        </p:txBody>
      </p:sp>
      <p:sp>
        <p:nvSpPr>
          <p:cNvPr id="3" name="Text 1"/>
          <p:cNvSpPr/>
          <p:nvPr/>
        </p:nvSpPr>
        <p:spPr>
          <a:xfrm>
            <a:off x="548640" y="6446520"/>
            <a:ext cx="10972800" cy="274320"/>
          </a:xfrm>
          <a:prstGeom prst="rect">
            <a:avLst/>
          </a:prstGeom>
          <a:noFill/>
          <a:ln/>
        </p:spPr>
        <p:txBody>
          <a:bodyPr wrap="square" rtlCol="0" anchor="ctr"/>
          <a:lstStyle/>
          <a:p>
            <a:pPr indent="0" marL="0">
              <a:buNone/>
            </a:pPr>
            <a:r>
              <a:rPr lang="en-US" sz="700" spc="200" kern="0" dirty="0">
                <a:solidFill>
                  <a:srgbClr val="6B6B5C"/>
                </a:solidFill>
                <a:latin typeface="Courier New" pitchFamily="34" charset="0"/>
                <a:ea typeface="Courier New" pitchFamily="34" charset="-122"/>
                <a:cs typeface="Courier New" pitchFamily="34" charset="-120"/>
              </a:rPr>
              <a:t>AGROM · FITOLINK · INTELIGENCIA AGRARIA DE PRECISIÓN · 2026</a:t>
            </a:r>
            <a:endParaRPr lang="en-US" sz="700" dirty="0"/>
          </a:p>
        </p:txBody>
      </p:sp>
      <p:sp>
        <p:nvSpPr>
          <p:cNvPr id="4" name="Text 2"/>
          <p:cNvSpPr/>
          <p:nvPr/>
        </p:nvSpPr>
        <p:spPr>
          <a:xfrm>
            <a:off x="548640" y="685800"/>
            <a:ext cx="10972800" cy="640080"/>
          </a:xfrm>
          <a:prstGeom prst="rect">
            <a:avLst/>
          </a:prstGeom>
          <a:noFill/>
          <a:ln/>
        </p:spPr>
        <p:txBody>
          <a:bodyPr wrap="square" rtlCol="0" anchor="ctr"/>
          <a:lstStyle/>
          <a:p>
            <a:pPr indent="0" marL="0">
              <a:buNone/>
            </a:pPr>
            <a:r>
              <a:rPr lang="en-US" sz="2800" b="1" dirty="0">
                <a:solidFill>
                  <a:srgbClr val="1B4332"/>
                </a:solidFill>
                <a:latin typeface="Georgia" pitchFamily="34" charset="0"/>
                <a:ea typeface="Georgia" pitchFamily="34" charset="-122"/>
                <a:cs typeface="Georgia" pitchFamily="34" charset="-120"/>
              </a:rPr>
              <a:t>Cuándo se puede volar y tratar</a:t>
            </a:r>
            <a:endParaRPr lang="en-US" sz="2800" dirty="0"/>
          </a:p>
        </p:txBody>
      </p:sp>
      <p:sp>
        <p:nvSpPr>
          <p:cNvPr id="5" name="Shape 3"/>
          <p:cNvSpPr/>
          <p:nvPr/>
        </p:nvSpPr>
        <p:spPr>
          <a:xfrm>
            <a:off x="548640" y="1371600"/>
            <a:ext cx="1005840" cy="0"/>
          </a:xfrm>
          <a:prstGeom prst="line">
            <a:avLst/>
          </a:prstGeom>
          <a:noFill/>
          <a:ln w="19050">
            <a:solidFill>
              <a:srgbClr val="C9A876"/>
            </a:solidFill>
            <a:prstDash val="solid"/>
          </a:ln>
        </p:spPr>
      </p:sp>
      <p:sp>
        <p:nvSpPr>
          <p:cNvPr id="6" name="Shape 4"/>
          <p:cNvSpPr/>
          <p:nvPr/>
        </p:nvSpPr>
        <p:spPr>
          <a:xfrm>
            <a:off x="548640" y="1554480"/>
            <a:ext cx="5532120" cy="2834640"/>
          </a:xfrm>
          <a:prstGeom prst="roundRect">
            <a:avLst>
              <a:gd name="adj" fmla="val 1613"/>
            </a:avLst>
          </a:prstGeom>
          <a:solidFill>
            <a:srgbClr val="FFFFFF"/>
          </a:solidFill>
          <a:ln w="9525">
            <a:solidFill>
              <a:srgbClr val="C9A876"/>
            </a:solidFill>
            <a:prstDash val="solid"/>
          </a:ln>
        </p:spPr>
      </p:sp>
      <p:sp>
        <p:nvSpPr>
          <p:cNvPr id="7" name="Text 5"/>
          <p:cNvSpPr/>
          <p:nvPr/>
        </p:nvSpPr>
        <p:spPr>
          <a:xfrm>
            <a:off x="713232" y="1664208"/>
            <a:ext cx="525780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MODO FITOSANITARIO (suitability.ts · estricto)</a:t>
            </a:r>
            <a:endParaRPr lang="en-US" sz="900" dirty="0"/>
          </a:p>
        </p:txBody>
      </p:sp>
      <p:sp>
        <p:nvSpPr>
          <p:cNvPr id="8" name="Text 6"/>
          <p:cNvSpPr/>
          <p:nvPr/>
        </p:nvSpPr>
        <p:spPr>
          <a:xfrm>
            <a:off x="713232" y="1975104"/>
            <a:ext cx="5202936" cy="2304288"/>
          </a:xfrm>
          <a:prstGeom prst="rect">
            <a:avLst/>
          </a:prstGeom>
          <a:noFill/>
          <a:ln/>
        </p:spPr>
        <p:txBody>
          <a:bodyPr wrap="square" rtlCol="0" anchor="t"/>
          <a:lstStyle/>
          <a:p>
            <a:pPr indent="0" marL="0">
              <a:spcAft>
                <a:spcPts val="400"/>
              </a:spcAft>
              <a:buNone/>
            </a:pPr>
            <a:r>
              <a:rPr lang="en-US" sz="1100" dirty="0">
                <a:solidFill>
                  <a:srgbClr val="0F2A22"/>
                </a:solidFill>
                <a:latin typeface="Calibri" pitchFamily="34" charset="0"/>
                <a:ea typeface="Calibri" pitchFamily="34" charset="-122"/>
                <a:cs typeface="Calibri" pitchFamily="34" charset="-120"/>
              </a:rPr>
              <a:t>Viento  &gt; 5 m/s prohibido · 3-5 precaución</a:t>
            </a:r>
            <a:endParaRPr lang="en-US" sz="1100" dirty="0"/>
          </a:p>
          <a:p>
            <a:pPr indent="0" marL="0">
              <a:spcAft>
                <a:spcPts val="400"/>
              </a:spcAft>
              <a:buNone/>
            </a:pPr>
            <a:r>
              <a:rPr lang="en-US" sz="1100" dirty="0">
                <a:solidFill>
                  <a:srgbClr val="0F2A22"/>
                </a:solidFill>
                <a:latin typeface="Calibri" pitchFamily="34" charset="0"/>
                <a:ea typeface="Calibri" pitchFamily="34" charset="-122"/>
                <a:cs typeface="Calibri" pitchFamily="34" charset="-120"/>
              </a:rPr>
              <a:t>Ráfagas &gt; 7 m/s prohibido</a:t>
            </a:r>
            <a:endParaRPr lang="en-US" sz="1100" dirty="0"/>
          </a:p>
          <a:p>
            <a:pPr indent="0" marL="0">
              <a:spcAft>
                <a:spcPts val="400"/>
              </a:spcAft>
              <a:buNone/>
            </a:pPr>
            <a:r>
              <a:rPr lang="en-US" sz="1100" dirty="0">
                <a:solidFill>
                  <a:srgbClr val="0F2A22"/>
                </a:solidFill>
                <a:latin typeface="Calibri" pitchFamily="34" charset="0"/>
                <a:ea typeface="Calibri" pitchFamily="34" charset="-122"/>
                <a:cs typeface="Calibri" pitchFamily="34" charset="-120"/>
              </a:rPr>
              <a:t>Lluvia  &gt; 0.1 mm o prob &gt; 60% prohibido (lava producto)</a:t>
            </a:r>
            <a:endParaRPr lang="en-US" sz="1100" dirty="0"/>
          </a:p>
          <a:p>
            <a:pPr indent="0" marL="0">
              <a:spcAft>
                <a:spcPts val="400"/>
              </a:spcAft>
              <a:buNone/>
            </a:pPr>
            <a:r>
              <a:rPr lang="en-US" sz="1100" dirty="0">
                <a:solidFill>
                  <a:srgbClr val="0F2A22"/>
                </a:solidFill>
                <a:latin typeface="Calibri" pitchFamily="34" charset="0"/>
                <a:ea typeface="Calibri" pitchFamily="34" charset="-122"/>
                <a:cs typeface="Calibri" pitchFamily="34" charset="-120"/>
              </a:rPr>
              <a:t>Temp    &lt; 5 ó &gt; 30 °C prohibido</a:t>
            </a:r>
            <a:endParaRPr lang="en-US" sz="1100" dirty="0"/>
          </a:p>
          <a:p>
            <a:pPr indent="0" marL="0">
              <a:spcAft>
                <a:spcPts val="600"/>
              </a:spcAft>
              <a:buNone/>
            </a:pPr>
            <a:r>
              <a:rPr lang="en-US" sz="1100" dirty="0">
                <a:solidFill>
                  <a:srgbClr val="0F2A22"/>
                </a:solidFill>
                <a:latin typeface="Calibri" pitchFamily="34" charset="0"/>
                <a:ea typeface="Calibri" pitchFamily="34" charset="-122"/>
                <a:cs typeface="Calibri" pitchFamily="34" charset="-120"/>
              </a:rPr>
              <a:t>Humedad &lt; 30% precaución (deriva por aire seco)</a:t>
            </a:r>
            <a:endParaRPr lang="en-US" sz="1100" dirty="0"/>
          </a:p>
          <a:p>
            <a:pPr indent="0" marL="0">
              <a:spcAft>
                <a:spcPts val="400"/>
              </a:spcAft>
              <a:buNone/>
            </a:pPr>
            <a:r>
              <a:rPr lang="en-US" sz="1050" dirty="0">
                <a:solidFill>
                  <a:srgbClr val="6B6B5C"/>
                </a:solidFill>
                <a:latin typeface="Calibri" pitchFamily="34" charset="0"/>
                <a:ea typeface="Calibri" pitchFamily="34" charset="-122"/>
                <a:cs typeface="Calibri" pitchFamily="34" charset="-120"/>
              </a:rPr>
              <a:t>Modo inspección: más permisivo (viento ≤10, nubes ≤80%, franja 10-16 h).</a:t>
            </a:r>
            <a:endParaRPr lang="en-US" sz="1100" dirty="0"/>
          </a:p>
        </p:txBody>
      </p:sp>
      <p:sp>
        <p:nvSpPr>
          <p:cNvPr id="9" name="Shape 7"/>
          <p:cNvSpPr/>
          <p:nvPr/>
        </p:nvSpPr>
        <p:spPr>
          <a:xfrm>
            <a:off x="6263640" y="1554480"/>
            <a:ext cx="5349240" cy="2834640"/>
          </a:xfrm>
          <a:prstGeom prst="roundRect">
            <a:avLst>
              <a:gd name="adj" fmla="val 1613"/>
            </a:avLst>
          </a:prstGeom>
          <a:solidFill>
            <a:srgbClr val="FFFFFF"/>
          </a:solidFill>
          <a:ln w="9525">
            <a:solidFill>
              <a:srgbClr val="C9A876"/>
            </a:solidFill>
            <a:prstDash val="solid"/>
          </a:ln>
        </p:spPr>
      </p:sp>
      <p:sp>
        <p:nvSpPr>
          <p:cNvPr id="10" name="Text 8"/>
          <p:cNvSpPr/>
          <p:nvPr/>
        </p:nvSpPr>
        <p:spPr>
          <a:xfrm>
            <a:off x="6428232" y="1664208"/>
            <a:ext cx="5074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FUENTE Y LÓGICA</a:t>
            </a:r>
            <a:endParaRPr lang="en-US" sz="900" dirty="0"/>
          </a:p>
        </p:txBody>
      </p:sp>
      <p:sp>
        <p:nvSpPr>
          <p:cNvPr id="11" name="Text 9"/>
          <p:cNvSpPr/>
          <p:nvPr/>
        </p:nvSpPr>
        <p:spPr>
          <a:xfrm>
            <a:off x="6428232" y="1975104"/>
            <a:ext cx="5020056" cy="2304288"/>
          </a:xfrm>
          <a:prstGeom prst="rect">
            <a:avLst/>
          </a:prstGeom>
          <a:noFill/>
          <a:ln/>
        </p:spPr>
        <p:txBody>
          <a:bodyPr wrap="square" rtlCol="0" anchor="t"/>
          <a:lstStyle/>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Open-Meteo Forecast (ECMWF/IFS) · 7 días horarios.</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Variables: viento, ráfagas, lluvia, prob, temp, humedad, nubes, ET0.</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Precedencia: Prohibido &gt; Precaución &gt; OK &gt; Ideal.</a:t>
            </a:r>
            <a:endParaRPr lang="en-US" sz="1200" dirty="0"/>
          </a:p>
          <a:p>
            <a:pPr indent="0" marL="0">
              <a:spcAft>
                <a:spcPts val="400"/>
              </a:spcAft>
              <a:buNone/>
            </a:pPr>
            <a:r>
              <a:rPr lang="en-US" sz="1200" b="1" dirty="0">
                <a:solidFill>
                  <a:srgbClr val="1B4332"/>
                </a:solidFill>
                <a:latin typeface="Calibri" pitchFamily="34" charset="0"/>
                <a:ea typeface="Calibri" pitchFamily="34" charset="-122"/>
                <a:cs typeface="Calibri" pitchFamily="34" charset="-120"/>
              </a:rPr>
              <a:t>Horas laborables 8-18 h. Agregado diario = mejor ventana disponible del día.</a:t>
            </a:r>
            <a:endParaRPr lang="en-US" sz="1200" dirty="0"/>
          </a:p>
        </p:txBody>
      </p:sp>
      <p:sp>
        <p:nvSpPr>
          <p:cNvPr id="12" name="Shape 10"/>
          <p:cNvSpPr/>
          <p:nvPr/>
        </p:nvSpPr>
        <p:spPr>
          <a:xfrm>
            <a:off x="548640" y="4526280"/>
            <a:ext cx="11064240" cy="1600200"/>
          </a:xfrm>
          <a:prstGeom prst="roundRect">
            <a:avLst>
              <a:gd name="adj" fmla="val 2857"/>
            </a:avLst>
          </a:prstGeom>
          <a:solidFill>
            <a:srgbClr val="FFFFFF"/>
          </a:solidFill>
          <a:ln w="9525">
            <a:solidFill>
              <a:srgbClr val="C9A876"/>
            </a:solidFill>
            <a:prstDash val="solid"/>
          </a:ln>
        </p:spPr>
      </p:sp>
      <p:sp>
        <p:nvSpPr>
          <p:cNvPr id="13" name="Text 11"/>
          <p:cNvSpPr/>
          <p:nvPr/>
        </p:nvSpPr>
        <p:spPr>
          <a:xfrm>
            <a:off x="713232" y="4636008"/>
            <a:ext cx="10789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CÓMO SE LEE</a:t>
            </a:r>
            <a:endParaRPr lang="en-US" sz="900" dirty="0"/>
          </a:p>
        </p:txBody>
      </p:sp>
      <p:sp>
        <p:nvSpPr>
          <p:cNvPr id="14" name="Text 12"/>
          <p:cNvSpPr/>
          <p:nvPr/>
        </p:nvSpPr>
        <p:spPr>
          <a:xfrm>
            <a:off x="713232" y="4946904"/>
            <a:ext cx="10735056" cy="1069848"/>
          </a:xfrm>
          <a:prstGeom prst="rect">
            <a:avLst/>
          </a:prstGeom>
          <a:noFill/>
          <a:ln/>
        </p:spPr>
        <p:txBody>
          <a:bodyPr wrap="square" rtlCol="0" anchor="t"/>
          <a:lstStyle/>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Semáforo por hora y por día: verde = ventana de aplicación, rojo = no volar. Convierte la previsión meteo en una decisión operativa directa para el piloto — sin que tenga que interpretar 7 variables a mano.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0E8"/>
        </a:solidFill>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indent="0" marL="0">
              <a:buNone/>
            </a:pPr>
            <a:r>
              <a:rPr lang="en-US" sz="1000" spc="200" kern="0" dirty="0">
                <a:solidFill>
                  <a:srgbClr val="6B6B5C"/>
                </a:solidFill>
                <a:latin typeface="Courier New" pitchFamily="34" charset="0"/>
                <a:ea typeface="Courier New" pitchFamily="34" charset="-122"/>
                <a:cs typeface="Courier New" pitchFamily="34" charset="-120"/>
              </a:rPr>
              <a:t>§ 09 · FOCOS TÉRMICOS — NASA FIRMS</a:t>
            </a:r>
            <a:endParaRPr lang="en-US" sz="1000" dirty="0"/>
          </a:p>
        </p:txBody>
      </p:sp>
      <p:sp>
        <p:nvSpPr>
          <p:cNvPr id="3" name="Text 1"/>
          <p:cNvSpPr/>
          <p:nvPr/>
        </p:nvSpPr>
        <p:spPr>
          <a:xfrm>
            <a:off x="548640" y="6446520"/>
            <a:ext cx="10972800" cy="274320"/>
          </a:xfrm>
          <a:prstGeom prst="rect">
            <a:avLst/>
          </a:prstGeom>
          <a:noFill/>
          <a:ln/>
        </p:spPr>
        <p:txBody>
          <a:bodyPr wrap="square" rtlCol="0" anchor="ctr"/>
          <a:lstStyle/>
          <a:p>
            <a:pPr indent="0" marL="0">
              <a:buNone/>
            </a:pPr>
            <a:r>
              <a:rPr lang="en-US" sz="700" spc="200" kern="0" dirty="0">
                <a:solidFill>
                  <a:srgbClr val="6B6B5C"/>
                </a:solidFill>
                <a:latin typeface="Courier New" pitchFamily="34" charset="0"/>
                <a:ea typeface="Courier New" pitchFamily="34" charset="-122"/>
                <a:cs typeface="Courier New" pitchFamily="34" charset="-120"/>
              </a:rPr>
              <a:t>AGROM · FITOLINK · INTELIGENCIA AGRARIA DE PRECISIÓN · 2026</a:t>
            </a:r>
            <a:endParaRPr lang="en-US" sz="700" dirty="0"/>
          </a:p>
        </p:txBody>
      </p:sp>
      <p:sp>
        <p:nvSpPr>
          <p:cNvPr id="4" name="Text 2"/>
          <p:cNvSpPr/>
          <p:nvPr/>
        </p:nvSpPr>
        <p:spPr>
          <a:xfrm>
            <a:off x="548640" y="685800"/>
            <a:ext cx="11338560" cy="640080"/>
          </a:xfrm>
          <a:prstGeom prst="rect">
            <a:avLst/>
          </a:prstGeom>
          <a:noFill/>
          <a:ln/>
        </p:spPr>
        <p:txBody>
          <a:bodyPr wrap="square" rtlCol="0" anchor="ctr"/>
          <a:lstStyle/>
          <a:p>
            <a:pPr indent="0" marL="0">
              <a:buNone/>
            </a:pPr>
            <a:r>
              <a:rPr lang="en-US" sz="2600" b="1" dirty="0">
                <a:solidFill>
                  <a:srgbClr val="1B4332"/>
                </a:solidFill>
                <a:latin typeface="Georgia" pitchFamily="34" charset="0"/>
                <a:ea typeface="Georgia" pitchFamily="34" charset="-122"/>
                <a:cs typeface="Georgia" pitchFamily="34" charset="-120"/>
              </a:rPr>
              <a:t>Fuego cerca de la parcela, casi en tiempo real</a:t>
            </a:r>
            <a:endParaRPr lang="en-US" sz="2600" dirty="0"/>
          </a:p>
        </p:txBody>
      </p:sp>
      <p:sp>
        <p:nvSpPr>
          <p:cNvPr id="5" name="Shape 3"/>
          <p:cNvSpPr/>
          <p:nvPr/>
        </p:nvSpPr>
        <p:spPr>
          <a:xfrm>
            <a:off x="548640" y="1371600"/>
            <a:ext cx="1005840" cy="0"/>
          </a:xfrm>
          <a:prstGeom prst="line">
            <a:avLst/>
          </a:prstGeom>
          <a:noFill/>
          <a:ln w="19050">
            <a:solidFill>
              <a:srgbClr val="C9A876"/>
            </a:solidFill>
            <a:prstDash val="solid"/>
          </a:ln>
        </p:spPr>
      </p:sp>
      <p:sp>
        <p:nvSpPr>
          <p:cNvPr id="6" name="Shape 4"/>
          <p:cNvSpPr/>
          <p:nvPr/>
        </p:nvSpPr>
        <p:spPr>
          <a:xfrm>
            <a:off x="548640" y="1554480"/>
            <a:ext cx="5532120" cy="2468880"/>
          </a:xfrm>
          <a:prstGeom prst="roundRect">
            <a:avLst>
              <a:gd name="adj" fmla="val 1852"/>
            </a:avLst>
          </a:prstGeom>
          <a:solidFill>
            <a:srgbClr val="FFFFFF"/>
          </a:solidFill>
          <a:ln w="9525">
            <a:solidFill>
              <a:srgbClr val="C9A876"/>
            </a:solidFill>
            <a:prstDash val="solid"/>
          </a:ln>
        </p:spPr>
      </p:sp>
      <p:sp>
        <p:nvSpPr>
          <p:cNvPr id="7" name="Text 5"/>
          <p:cNvSpPr/>
          <p:nvPr/>
        </p:nvSpPr>
        <p:spPr>
          <a:xfrm>
            <a:off x="713232" y="1664208"/>
            <a:ext cx="525780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FUENTE (fireService.ts)</a:t>
            </a:r>
            <a:endParaRPr lang="en-US" sz="900" dirty="0"/>
          </a:p>
        </p:txBody>
      </p:sp>
      <p:sp>
        <p:nvSpPr>
          <p:cNvPr id="8" name="Text 6"/>
          <p:cNvSpPr/>
          <p:nvPr/>
        </p:nvSpPr>
        <p:spPr>
          <a:xfrm>
            <a:off x="713232" y="1975104"/>
            <a:ext cx="5202936" cy="1938528"/>
          </a:xfrm>
          <a:prstGeom prst="rect">
            <a:avLst/>
          </a:prstGeom>
          <a:noFill/>
          <a:ln/>
        </p:spPr>
        <p:txBody>
          <a:bodyPr wrap="square" rtlCol="0" anchor="t"/>
          <a:lstStyle/>
          <a:p>
            <a:pPr indent="0" marL="0">
              <a:spcAft>
                <a:spcPts val="500"/>
              </a:spcAft>
              <a:buNone/>
            </a:pPr>
            <a:r>
              <a:rPr lang="en-US" sz="1200" b="1" dirty="0">
                <a:solidFill>
                  <a:srgbClr val="0F2A22"/>
                </a:solidFill>
                <a:latin typeface="Calibri" pitchFamily="34" charset="0"/>
                <a:ea typeface="Calibri" pitchFamily="34" charset="-122"/>
                <a:cs typeface="Calibri" pitchFamily="34" charset="-120"/>
              </a:rPr>
              <a:t>VIIRS Suomi-NPP + NOAA-20 · 375 m</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NASA FIRMS · cuasi-tiempo-real (~3 h)</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Ventana 5 días · radio 25 km del centroide</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Distancia por haversine · filtra confidence "low"</a:t>
            </a:r>
            <a:endParaRPr lang="en-US" sz="1200" dirty="0"/>
          </a:p>
          <a:p>
            <a:pPr indent="0" marL="0">
              <a:spcAft>
                <a:spcPts val="400"/>
              </a:spcAft>
              <a:buNone/>
            </a:pPr>
            <a:r>
              <a:rPr lang="en-US" sz="1100" dirty="0">
                <a:solidFill>
                  <a:srgbClr val="6B6B5C"/>
                </a:solidFill>
                <a:latin typeface="Calibri" pitchFamily="34" charset="0"/>
                <a:ea typeface="Calibri" pitchFamily="34" charset="-122"/>
                <a:cs typeface="Calibri" pitchFamily="34" charset="-120"/>
              </a:rPr>
              <a:t>Campos: brightness (K) · FRP (MW) · día/noche</a:t>
            </a:r>
            <a:endParaRPr lang="en-US" sz="1200" dirty="0"/>
          </a:p>
        </p:txBody>
      </p:sp>
      <p:sp>
        <p:nvSpPr>
          <p:cNvPr id="9" name="Shape 7"/>
          <p:cNvSpPr/>
          <p:nvPr/>
        </p:nvSpPr>
        <p:spPr>
          <a:xfrm>
            <a:off x="6263640" y="1554480"/>
            <a:ext cx="5349240" cy="2468880"/>
          </a:xfrm>
          <a:prstGeom prst="roundRect">
            <a:avLst>
              <a:gd name="adj" fmla="val 1852"/>
            </a:avLst>
          </a:prstGeom>
          <a:solidFill>
            <a:srgbClr val="FFFFFF"/>
          </a:solidFill>
          <a:ln w="9525">
            <a:solidFill>
              <a:srgbClr val="C9A876"/>
            </a:solidFill>
            <a:prstDash val="solid"/>
          </a:ln>
        </p:spPr>
      </p:sp>
      <p:sp>
        <p:nvSpPr>
          <p:cNvPr id="10" name="Text 8"/>
          <p:cNvSpPr/>
          <p:nvPr/>
        </p:nvSpPr>
        <p:spPr>
          <a:xfrm>
            <a:off x="6428232" y="1664208"/>
            <a:ext cx="5074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QUÉ REPRESENTA</a:t>
            </a:r>
            <a:endParaRPr lang="en-US" sz="900" dirty="0"/>
          </a:p>
        </p:txBody>
      </p:sp>
      <p:sp>
        <p:nvSpPr>
          <p:cNvPr id="11" name="Text 9"/>
          <p:cNvSpPr/>
          <p:nvPr/>
        </p:nvSpPr>
        <p:spPr>
          <a:xfrm>
            <a:off x="6428232" y="1975104"/>
            <a:ext cx="5020056" cy="1938528"/>
          </a:xfrm>
          <a:prstGeom prst="rect">
            <a:avLst/>
          </a:prstGeom>
          <a:noFill/>
          <a:ln/>
        </p:spPr>
        <p:txBody>
          <a:bodyPr wrap="square" rtlCol="0" anchor="t"/>
          <a:lstStyle/>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Cada punto es un píxel donde el sensor térmico detecta una anomalía de calor (fuego activo).</a:t>
            </a:r>
            <a:endParaRPr lang="en-US" sz="1200" dirty="0"/>
          </a:p>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FRP (Fire Radiative Power) es la intensidad energética del foco; brightness el brillo del canal de 4 µm.</a:t>
            </a:r>
            <a:endParaRPr lang="en-US" sz="1200" dirty="0"/>
          </a:p>
          <a:p>
            <a:pPr indent="0" marL="0">
              <a:spcAft>
                <a:spcPts val="400"/>
              </a:spcAft>
              <a:buNone/>
            </a:pPr>
            <a:r>
              <a:rPr lang="en-US" sz="1200" dirty="0">
                <a:solidFill>
                  <a:srgbClr val="6B6B5C"/>
                </a:solidFill>
                <a:latin typeface="Calibri" pitchFamily="34" charset="0"/>
                <a:ea typeface="Calibri" pitchFamily="34" charset="-122"/>
                <a:cs typeface="Calibri" pitchFamily="34" charset="-120"/>
              </a:rPr>
              <a:t>Confidence "low" se descarta por defecto (reflejos industriales, falsos positivos).</a:t>
            </a:r>
            <a:endParaRPr lang="en-US" sz="1200" dirty="0"/>
          </a:p>
        </p:txBody>
      </p:sp>
      <p:sp>
        <p:nvSpPr>
          <p:cNvPr id="12" name="Shape 10"/>
          <p:cNvSpPr/>
          <p:nvPr/>
        </p:nvSpPr>
        <p:spPr>
          <a:xfrm>
            <a:off x="548640" y="4206240"/>
            <a:ext cx="11064240" cy="1920240"/>
          </a:xfrm>
          <a:prstGeom prst="roundRect">
            <a:avLst>
              <a:gd name="adj" fmla="val 2381"/>
            </a:avLst>
          </a:prstGeom>
          <a:solidFill>
            <a:srgbClr val="FFFFFF"/>
          </a:solidFill>
          <a:ln w="9525">
            <a:solidFill>
              <a:srgbClr val="C9A876"/>
            </a:solidFill>
            <a:prstDash val="solid"/>
          </a:ln>
        </p:spPr>
      </p:sp>
      <p:sp>
        <p:nvSpPr>
          <p:cNvPr id="13" name="Text 11"/>
          <p:cNvSpPr/>
          <p:nvPr/>
        </p:nvSpPr>
        <p:spPr>
          <a:xfrm>
            <a:off x="713232" y="4315968"/>
            <a:ext cx="10789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CÓMO SE LEE</a:t>
            </a:r>
            <a:endParaRPr lang="en-US" sz="900" dirty="0"/>
          </a:p>
        </p:txBody>
      </p:sp>
      <p:sp>
        <p:nvSpPr>
          <p:cNvPr id="14" name="Text 12"/>
          <p:cNvSpPr/>
          <p:nvPr/>
        </p:nvSpPr>
        <p:spPr>
          <a:xfrm>
            <a:off x="713232" y="4626864"/>
            <a:ext cx="10735056" cy="1389888"/>
          </a:xfrm>
          <a:prstGeom prst="rect">
            <a:avLst/>
          </a:prstGeom>
          <a:noFill/>
          <a:ln/>
        </p:spPr>
        <p:txBody>
          <a:bodyPr wrap="square" rtlCol="0" anchor="t"/>
          <a:lstStyle/>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"Sin focos activos en su zona" = tranquilidad verificada. Si aparece un foco, se ordena por distancia y por brillo: lo primero que ve el agricultor es el fuego más cercano e intenso.</a:t>
            </a:r>
            <a:endParaRPr lang="en-US" sz="1200" dirty="0"/>
          </a:p>
          <a:p>
            <a:pPr indent="0" marL="0">
              <a:spcAft>
                <a:spcPts val="400"/>
              </a:spcAft>
              <a:buNone/>
            </a:pPr>
            <a:r>
              <a:rPr lang="en-US" sz="1200" dirty="0">
                <a:solidFill>
                  <a:srgbClr val="6B6B5C"/>
                </a:solidFill>
                <a:latin typeface="Calibri" pitchFamily="34" charset="0"/>
                <a:ea typeface="Calibri" pitchFamily="34" charset="-122"/>
                <a:cs typeface="Calibri" pitchFamily="34" charset="-120"/>
              </a:rPr>
              <a:t>Es una capa de seguridad, no agronómica: protege la cosecha de un riesgo externo.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0E8"/>
        </a:solidFill>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indent="0" marL="0">
              <a:buNone/>
            </a:pPr>
            <a:r>
              <a:rPr lang="en-US" sz="1000" spc="200" kern="0" dirty="0">
                <a:solidFill>
                  <a:srgbClr val="6B6B5C"/>
                </a:solidFill>
                <a:latin typeface="Courier New" pitchFamily="34" charset="0"/>
                <a:ea typeface="Courier New" pitchFamily="34" charset="-122"/>
                <a:cs typeface="Courier New" pitchFamily="34" charset="-120"/>
              </a:rPr>
              <a:t>§ 10 · PROYECCIÓN — ANÁLISIS PREDICTIVO</a:t>
            </a:r>
            <a:endParaRPr lang="en-US" sz="1000" dirty="0"/>
          </a:p>
        </p:txBody>
      </p:sp>
      <p:sp>
        <p:nvSpPr>
          <p:cNvPr id="3" name="Text 1"/>
          <p:cNvSpPr/>
          <p:nvPr/>
        </p:nvSpPr>
        <p:spPr>
          <a:xfrm>
            <a:off x="548640" y="6446520"/>
            <a:ext cx="10972800" cy="274320"/>
          </a:xfrm>
          <a:prstGeom prst="rect">
            <a:avLst/>
          </a:prstGeom>
          <a:noFill/>
          <a:ln/>
        </p:spPr>
        <p:txBody>
          <a:bodyPr wrap="square" rtlCol="0" anchor="ctr"/>
          <a:lstStyle/>
          <a:p>
            <a:pPr indent="0" marL="0">
              <a:buNone/>
            </a:pPr>
            <a:r>
              <a:rPr lang="en-US" sz="700" spc="200" kern="0" dirty="0">
                <a:solidFill>
                  <a:srgbClr val="6B6B5C"/>
                </a:solidFill>
                <a:latin typeface="Courier New" pitchFamily="34" charset="0"/>
                <a:ea typeface="Courier New" pitchFamily="34" charset="-122"/>
                <a:cs typeface="Courier New" pitchFamily="34" charset="-120"/>
              </a:rPr>
              <a:t>AGROM · FITOLINK · INTELIGENCIA AGRARIA DE PRECISIÓN · 2026</a:t>
            </a:r>
            <a:endParaRPr lang="en-US" sz="700" dirty="0"/>
          </a:p>
        </p:txBody>
      </p:sp>
      <p:sp>
        <p:nvSpPr>
          <p:cNvPr id="4" name="Text 2"/>
          <p:cNvSpPr/>
          <p:nvPr/>
        </p:nvSpPr>
        <p:spPr>
          <a:xfrm>
            <a:off x="548640" y="685800"/>
            <a:ext cx="10972800" cy="640080"/>
          </a:xfrm>
          <a:prstGeom prst="rect">
            <a:avLst/>
          </a:prstGeom>
          <a:noFill/>
          <a:ln/>
        </p:spPr>
        <p:txBody>
          <a:bodyPr wrap="square" rtlCol="0" anchor="ctr"/>
          <a:lstStyle/>
          <a:p>
            <a:pPr indent="0" marL="0">
              <a:buNone/>
            </a:pPr>
            <a:r>
              <a:rPr lang="en-US" sz="2800" b="1" dirty="0">
                <a:solidFill>
                  <a:srgbClr val="1B4332"/>
                </a:solidFill>
                <a:latin typeface="Georgia" pitchFamily="34" charset="0"/>
                <a:ea typeface="Georgia" pitchFamily="34" charset="-122"/>
                <a:cs typeface="Georgia" pitchFamily="34" charset="-120"/>
              </a:rPr>
              <a:t>Hacia dónde va la tendencia</a:t>
            </a:r>
            <a:endParaRPr lang="en-US" sz="2800" dirty="0"/>
          </a:p>
        </p:txBody>
      </p:sp>
      <p:sp>
        <p:nvSpPr>
          <p:cNvPr id="5" name="Shape 3"/>
          <p:cNvSpPr/>
          <p:nvPr/>
        </p:nvSpPr>
        <p:spPr>
          <a:xfrm>
            <a:off x="548640" y="1371600"/>
            <a:ext cx="1005840" cy="0"/>
          </a:xfrm>
          <a:prstGeom prst="line">
            <a:avLst/>
          </a:prstGeom>
          <a:noFill/>
          <a:ln w="19050">
            <a:solidFill>
              <a:srgbClr val="C9A876"/>
            </a:solidFill>
            <a:prstDash val="solid"/>
          </a:ln>
        </p:spPr>
      </p:sp>
      <p:sp>
        <p:nvSpPr>
          <p:cNvPr id="6" name="Shape 4"/>
          <p:cNvSpPr/>
          <p:nvPr/>
        </p:nvSpPr>
        <p:spPr>
          <a:xfrm>
            <a:off x="548640" y="1554480"/>
            <a:ext cx="5532120" cy="2468880"/>
          </a:xfrm>
          <a:prstGeom prst="roundRect">
            <a:avLst>
              <a:gd name="adj" fmla="val 1852"/>
            </a:avLst>
          </a:prstGeom>
          <a:solidFill>
            <a:srgbClr val="FFFFFF"/>
          </a:solidFill>
          <a:ln w="9525">
            <a:solidFill>
              <a:srgbClr val="C9A876"/>
            </a:solidFill>
            <a:prstDash val="solid"/>
          </a:ln>
        </p:spPr>
      </p:sp>
      <p:sp>
        <p:nvSpPr>
          <p:cNvPr id="7" name="Text 5"/>
          <p:cNvSpPr/>
          <p:nvPr/>
        </p:nvSpPr>
        <p:spPr>
          <a:xfrm>
            <a:off x="713232" y="1664208"/>
            <a:ext cx="525780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MÉTODO (predictiveInsightService.ts)</a:t>
            </a:r>
            <a:endParaRPr lang="en-US" sz="900" dirty="0"/>
          </a:p>
        </p:txBody>
      </p:sp>
      <p:sp>
        <p:nvSpPr>
          <p:cNvPr id="8" name="Text 6"/>
          <p:cNvSpPr/>
          <p:nvPr/>
        </p:nvSpPr>
        <p:spPr>
          <a:xfrm>
            <a:off x="713232" y="1975104"/>
            <a:ext cx="5202936" cy="1938528"/>
          </a:xfrm>
          <a:prstGeom prst="rect">
            <a:avLst/>
          </a:prstGeom>
          <a:noFill/>
          <a:ln/>
        </p:spPr>
        <p:txBody>
          <a:bodyPr wrap="square" rtlCol="0" anchor="t"/>
          <a:lstStyle/>
          <a:p>
            <a:pPr indent="0" marL="0">
              <a:spcAft>
                <a:spcPts val="400"/>
              </a:spcAft>
              <a:buNone/>
            </a:pPr>
            <a:r>
              <a:rPr lang="en-US" sz="1200" b="1" dirty="0">
                <a:solidFill>
                  <a:srgbClr val="0F2A22"/>
                </a:solidFill>
                <a:latin typeface="Calibri" pitchFamily="34" charset="0"/>
                <a:ea typeface="Calibri" pitchFamily="34" charset="-122"/>
                <a:cs typeface="Calibri" pitchFamily="34" charset="-120"/>
              </a:rPr>
              <a:t>Regresión lineal por mínimos cuadrados</a:t>
            </a:r>
            <a:endParaRPr lang="en-US" sz="1200" dirty="0"/>
          </a:p>
          <a:p>
            <a:pPr indent="0" marL="0">
              <a:spcAft>
                <a:spcPts val="400"/>
              </a:spcAft>
              <a:buNone/>
            </a:pPr>
            <a:r>
              <a:rPr lang="en-US" sz="1200" dirty="0">
                <a:solidFill>
                  <a:srgbClr val="0F2A22"/>
                </a:solidFill>
                <a:latin typeface="Calibri" pitchFamily="34" charset="0"/>
                <a:ea typeface="Calibri" pitchFamily="34" charset="-122"/>
                <a:cs typeface="Calibri" pitchFamily="34" charset="-120"/>
              </a:rPr>
              <a:t>Ventana: últimas 5 lecturas (mín. 3)</a:t>
            </a:r>
            <a:endParaRPr lang="en-US" sz="1200" dirty="0"/>
          </a:p>
          <a:p>
            <a:pPr indent="0" marL="0">
              <a:spcAft>
                <a:spcPts val="300"/>
              </a:spcAft>
              <a:buNone/>
            </a:pPr>
            <a:r>
              <a:rPr lang="en-US" sz="1200" dirty="0">
                <a:solidFill>
                  <a:srgbClr val="0F2A22"/>
                </a:solidFill>
                <a:latin typeface="Calibri" pitchFamily="34" charset="0"/>
                <a:ea typeface="Calibri" pitchFamily="34" charset="-122"/>
                <a:cs typeface="Calibri" pitchFamily="34" charset="-120"/>
              </a:rPr>
              <a:t>slope/día → tendencia:</a:t>
            </a:r>
            <a:endParaRPr lang="en-US" sz="1200" dirty="0"/>
          </a:p>
          <a:p>
            <a:pPr indent="0" marL="0">
              <a:spcAft>
                <a:spcPts val="600"/>
              </a:spcAft>
              <a:buNone/>
            </a:pPr>
            <a:r>
              <a:rPr lang="en-US" sz="1000" dirty="0">
                <a:solidFill>
                  <a:srgbClr val="0F2A22"/>
                </a:solidFill>
                <a:latin typeface="Courier New" pitchFamily="34" charset="0"/>
                <a:ea typeface="Courier New" pitchFamily="34" charset="-122"/>
                <a:cs typeface="Courier New" pitchFamily="34" charset="-120"/>
              </a:rPr>
              <a:t>&lt; −0.001 descendente · ±0.001 estable · &gt; +0.001 ascendente</a:t>
            </a:r>
            <a:endParaRPr lang="en-US" sz="1200" dirty="0"/>
          </a:p>
          <a:p>
            <a:pPr indent="0" marL="0">
              <a:spcAft>
                <a:spcPts val="400"/>
              </a:spcAft>
              <a:buNone/>
            </a:pPr>
            <a:r>
              <a:rPr lang="en-US" sz="1100" dirty="0">
                <a:solidFill>
                  <a:srgbClr val="6B6B5C"/>
                </a:solidFill>
                <a:latin typeface="Calibri" pitchFamily="34" charset="0"/>
                <a:ea typeface="Calibri" pitchFamily="34" charset="-122"/>
                <a:cs typeface="Calibri" pitchFamily="34" charset="-120"/>
              </a:rPr>
              <a:t>Sin LLM. Transparente y explicable.</a:t>
            </a:r>
            <a:endParaRPr lang="en-US" sz="1200" dirty="0"/>
          </a:p>
        </p:txBody>
      </p:sp>
      <p:sp>
        <p:nvSpPr>
          <p:cNvPr id="9" name="Shape 7"/>
          <p:cNvSpPr/>
          <p:nvPr/>
        </p:nvSpPr>
        <p:spPr>
          <a:xfrm>
            <a:off x="6263640" y="1554480"/>
            <a:ext cx="5349240" cy="2468880"/>
          </a:xfrm>
          <a:prstGeom prst="roundRect">
            <a:avLst>
              <a:gd name="adj" fmla="val 1852"/>
            </a:avLst>
          </a:prstGeom>
          <a:solidFill>
            <a:srgbClr val="FFFFFF"/>
          </a:solidFill>
          <a:ln w="9525">
            <a:solidFill>
              <a:srgbClr val="C9A876"/>
            </a:solidFill>
            <a:prstDash val="solid"/>
          </a:ln>
        </p:spPr>
      </p:sp>
      <p:sp>
        <p:nvSpPr>
          <p:cNvPr id="10" name="Text 8"/>
          <p:cNvSpPr/>
          <p:nvPr/>
        </p:nvSpPr>
        <p:spPr>
          <a:xfrm>
            <a:off x="6428232" y="1664208"/>
            <a:ext cx="5074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PROYECCIÓN A UMBRAL</a:t>
            </a:r>
            <a:endParaRPr lang="en-US" sz="900" dirty="0"/>
          </a:p>
        </p:txBody>
      </p:sp>
      <p:sp>
        <p:nvSpPr>
          <p:cNvPr id="11" name="Text 9"/>
          <p:cNvSpPr/>
          <p:nvPr/>
        </p:nvSpPr>
        <p:spPr>
          <a:xfrm>
            <a:off x="6428232" y="1975104"/>
            <a:ext cx="5020056" cy="1938528"/>
          </a:xfrm>
          <a:prstGeom prst="rect">
            <a:avLst/>
          </a:prstGeom>
          <a:noFill/>
          <a:ln/>
        </p:spPr>
        <p:txBody>
          <a:bodyPr wrap="square" rtlCol="0" anchor="t"/>
          <a:lstStyle/>
          <a:p>
            <a:pPr indent="0" marL="0">
              <a:spcAft>
                <a:spcPts val="600"/>
              </a:spcAft>
              <a:buNone/>
            </a:pPr>
            <a:r>
              <a:rPr lang="en-US" sz="1100" dirty="0">
                <a:solidFill>
                  <a:srgbClr val="0F2A22"/>
                </a:solidFill>
                <a:latin typeface="Courier New" pitchFamily="34" charset="0"/>
                <a:ea typeface="Courier New" pitchFamily="34" charset="-122"/>
                <a:cs typeface="Courier New" pitchFamily="34" charset="-120"/>
              </a:rPr>
              <a:t>días_a_crítico = (NDVI − floor) / |slope|</a:t>
            </a:r>
            <a:endParaRPr lang="en-US" sz="1100" dirty="0"/>
          </a:p>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floor = SEASONAL_FLOOR del cultivo/mes (olivar secano junio = 0.25).</a:t>
            </a:r>
            <a:endParaRPr lang="en-US" sz="1100" dirty="0"/>
          </a:p>
          <a:p>
            <a:pPr indent="0" marL="0">
              <a:spcAft>
                <a:spcPts val="400"/>
              </a:spcAft>
              <a:buNone/>
            </a:pPr>
            <a:r>
              <a:rPr lang="en-US" sz="1200" b="1" dirty="0">
                <a:solidFill>
                  <a:srgbClr val="1B4332"/>
                </a:solidFill>
                <a:latin typeface="Calibri" pitchFamily="34" charset="0"/>
                <a:ea typeface="Calibri" pitchFamily="34" charset="-122"/>
                <a:cs typeface="Calibri" pitchFamily="34" charset="-120"/>
              </a:rPr>
              <a:t>Confianza atada al nº de lecturas: 5→alta, 4→media, 3→baja. No infla certeza con pocos puntos.</a:t>
            </a:r>
            <a:endParaRPr lang="en-US" sz="1100" dirty="0"/>
          </a:p>
        </p:txBody>
      </p:sp>
      <p:sp>
        <p:nvSpPr>
          <p:cNvPr id="12" name="Shape 10"/>
          <p:cNvSpPr/>
          <p:nvPr/>
        </p:nvSpPr>
        <p:spPr>
          <a:xfrm>
            <a:off x="548640" y="4206240"/>
            <a:ext cx="11064240" cy="1920240"/>
          </a:xfrm>
          <a:prstGeom prst="roundRect">
            <a:avLst>
              <a:gd name="adj" fmla="val 2381"/>
            </a:avLst>
          </a:prstGeom>
          <a:solidFill>
            <a:srgbClr val="FFFFFF"/>
          </a:solidFill>
          <a:ln w="9525">
            <a:solidFill>
              <a:srgbClr val="C9A876"/>
            </a:solidFill>
            <a:prstDash val="solid"/>
          </a:ln>
        </p:spPr>
      </p:sp>
      <p:sp>
        <p:nvSpPr>
          <p:cNvPr id="13" name="Text 11"/>
          <p:cNvSpPr/>
          <p:nvPr/>
        </p:nvSpPr>
        <p:spPr>
          <a:xfrm>
            <a:off x="713232" y="4315968"/>
            <a:ext cx="10789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CÓMO SE LEE</a:t>
            </a:r>
            <a:endParaRPr lang="en-US" sz="900" dirty="0"/>
          </a:p>
        </p:txBody>
      </p:sp>
      <p:sp>
        <p:nvSpPr>
          <p:cNvPr id="14" name="Text 12"/>
          <p:cNvSpPr/>
          <p:nvPr/>
        </p:nvSpPr>
        <p:spPr>
          <a:xfrm>
            <a:off x="713232" y="4626864"/>
            <a:ext cx="10735056" cy="1389888"/>
          </a:xfrm>
          <a:prstGeom prst="rect">
            <a:avLst/>
          </a:prstGeom>
          <a:noFill/>
          <a:ln/>
        </p:spPr>
        <p:txBody>
          <a:bodyPr wrap="square" rtlCol="0" anchor="t"/>
          <a:lstStyle/>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"Tendencia estable · 0.35 / floor 0.25 · confianza baja (3 lecturas)" → el cultivo no se desvía y aún hay poco histórico. Cuando la serie crece, la proyección gana fiabilidad sola.</a:t>
            </a:r>
            <a:endParaRPr lang="en-US" sz="1200" dirty="0"/>
          </a:p>
          <a:p>
            <a:pPr indent="0" marL="0">
              <a:spcAft>
                <a:spcPts val="400"/>
              </a:spcAft>
              <a:buNone/>
            </a:pPr>
            <a:r>
              <a:rPr lang="en-US" sz="1200" dirty="0">
                <a:solidFill>
                  <a:srgbClr val="6B6B5C"/>
                </a:solidFill>
                <a:latin typeface="Calibri" pitchFamily="34" charset="0"/>
                <a:ea typeface="Calibri" pitchFamily="34" charset="-122"/>
                <a:cs typeface="Calibri" pitchFamily="34" charset="-120"/>
              </a:rPr>
              <a:t>Honesto por diseño: con pocas lecturas dice "confianza baja", no inventa una fecha crítica.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0E8"/>
        </a:solidFill>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indent="0" marL="0">
              <a:buNone/>
            </a:pPr>
            <a:r>
              <a:rPr lang="en-US" sz="1000" spc="200" kern="0" dirty="0">
                <a:solidFill>
                  <a:srgbClr val="6B6B5C"/>
                </a:solidFill>
                <a:latin typeface="Courier New" pitchFamily="34" charset="0"/>
                <a:ea typeface="Courier New" pitchFamily="34" charset="-122"/>
                <a:cs typeface="Courier New" pitchFamily="34" charset="-120"/>
              </a:rPr>
              <a:t>§ 11 · DECISIÓN DE RIEGO (BUMM)</a:t>
            </a:r>
            <a:endParaRPr lang="en-US" sz="1000" dirty="0"/>
          </a:p>
        </p:txBody>
      </p:sp>
      <p:sp>
        <p:nvSpPr>
          <p:cNvPr id="3" name="Text 1"/>
          <p:cNvSpPr/>
          <p:nvPr/>
        </p:nvSpPr>
        <p:spPr>
          <a:xfrm>
            <a:off x="548640" y="6446520"/>
            <a:ext cx="10972800" cy="274320"/>
          </a:xfrm>
          <a:prstGeom prst="rect">
            <a:avLst/>
          </a:prstGeom>
          <a:noFill/>
          <a:ln/>
        </p:spPr>
        <p:txBody>
          <a:bodyPr wrap="square" rtlCol="0" anchor="ctr"/>
          <a:lstStyle/>
          <a:p>
            <a:pPr indent="0" marL="0">
              <a:buNone/>
            </a:pPr>
            <a:r>
              <a:rPr lang="en-US" sz="700" spc="200" kern="0" dirty="0">
                <a:solidFill>
                  <a:srgbClr val="6B6B5C"/>
                </a:solidFill>
                <a:latin typeface="Courier New" pitchFamily="34" charset="0"/>
                <a:ea typeface="Courier New" pitchFamily="34" charset="-122"/>
                <a:cs typeface="Courier New" pitchFamily="34" charset="-120"/>
              </a:rPr>
              <a:t>AGROM · FITOLINK · INTELIGENCIA AGRARIA DE PRECISIÓN · 2026</a:t>
            </a:r>
            <a:endParaRPr lang="en-US" sz="700" dirty="0"/>
          </a:p>
        </p:txBody>
      </p:sp>
      <p:sp>
        <p:nvSpPr>
          <p:cNvPr id="4" name="Text 2"/>
          <p:cNvSpPr/>
          <p:nvPr/>
        </p:nvSpPr>
        <p:spPr>
          <a:xfrm>
            <a:off x="548640" y="685800"/>
            <a:ext cx="10972800" cy="640080"/>
          </a:xfrm>
          <a:prstGeom prst="rect">
            <a:avLst/>
          </a:prstGeom>
          <a:noFill/>
          <a:ln/>
        </p:spPr>
        <p:txBody>
          <a:bodyPr wrap="square" rtlCol="0" anchor="ctr"/>
          <a:lstStyle/>
          <a:p>
            <a:pPr indent="0" marL="0">
              <a:buNone/>
            </a:pPr>
            <a:r>
              <a:rPr lang="en-US" sz="2800" b="1" dirty="0">
                <a:solidFill>
                  <a:srgbClr val="1B4332"/>
                </a:solidFill>
                <a:latin typeface="Georgia" pitchFamily="34" charset="0"/>
                <a:ea typeface="Georgia" pitchFamily="34" charset="-122"/>
                <a:cs typeface="Georgia" pitchFamily="34" charset="-120"/>
              </a:rPr>
              <a:t>Del dato al metro cúbico</a:t>
            </a:r>
            <a:endParaRPr lang="en-US" sz="2800" dirty="0"/>
          </a:p>
        </p:txBody>
      </p:sp>
      <p:sp>
        <p:nvSpPr>
          <p:cNvPr id="5" name="Shape 3"/>
          <p:cNvSpPr/>
          <p:nvPr/>
        </p:nvSpPr>
        <p:spPr>
          <a:xfrm>
            <a:off x="548640" y="1371600"/>
            <a:ext cx="1005840" cy="0"/>
          </a:xfrm>
          <a:prstGeom prst="line">
            <a:avLst/>
          </a:prstGeom>
          <a:noFill/>
          <a:ln w="19050">
            <a:solidFill>
              <a:srgbClr val="C9A876"/>
            </a:solidFill>
            <a:prstDash val="solid"/>
          </a:ln>
        </p:spPr>
      </p:sp>
      <p:sp>
        <p:nvSpPr>
          <p:cNvPr id="6" name="Shape 4"/>
          <p:cNvSpPr/>
          <p:nvPr/>
        </p:nvSpPr>
        <p:spPr>
          <a:xfrm>
            <a:off x="548640" y="1554480"/>
            <a:ext cx="5532120" cy="2468880"/>
          </a:xfrm>
          <a:prstGeom prst="roundRect">
            <a:avLst>
              <a:gd name="adj" fmla="val 1852"/>
            </a:avLst>
          </a:prstGeom>
          <a:solidFill>
            <a:srgbClr val="FFFFFF"/>
          </a:solidFill>
          <a:ln w="9525">
            <a:solidFill>
              <a:srgbClr val="C9A876"/>
            </a:solidFill>
            <a:prstDash val="solid"/>
          </a:ln>
        </p:spPr>
      </p:sp>
      <p:sp>
        <p:nvSpPr>
          <p:cNvPr id="7" name="Text 5"/>
          <p:cNvSpPr/>
          <p:nvPr/>
        </p:nvSpPr>
        <p:spPr>
          <a:xfrm>
            <a:off x="713232" y="1664208"/>
            <a:ext cx="525780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BALANCE HÍDRICO (irrigationDecisionService.ts)</a:t>
            </a:r>
            <a:endParaRPr lang="en-US" sz="900" dirty="0"/>
          </a:p>
        </p:txBody>
      </p:sp>
      <p:sp>
        <p:nvSpPr>
          <p:cNvPr id="8" name="Text 6"/>
          <p:cNvSpPr/>
          <p:nvPr/>
        </p:nvSpPr>
        <p:spPr>
          <a:xfrm>
            <a:off x="713232" y="1975104"/>
            <a:ext cx="5202936" cy="1938528"/>
          </a:xfrm>
          <a:prstGeom prst="rect">
            <a:avLst/>
          </a:prstGeom>
          <a:noFill/>
          <a:ln/>
        </p:spPr>
        <p:txBody>
          <a:bodyPr wrap="square" rtlCol="0" anchor="t"/>
          <a:lstStyle/>
          <a:p>
            <a:pPr indent="0" marL="0">
              <a:spcAft>
                <a:spcPts val="500"/>
              </a:spcAft>
              <a:buNone/>
            </a:pPr>
            <a:r>
              <a:rPr lang="en-US" sz="1200" b="1" dirty="0">
                <a:solidFill>
                  <a:srgbClr val="0F2A22"/>
                </a:solidFill>
                <a:latin typeface="Calibri" pitchFamily="34" charset="0"/>
                <a:ea typeface="Calibri" pitchFamily="34" charset="-122"/>
                <a:cs typeface="Calibri" pitchFamily="34" charset="-120"/>
              </a:rPr>
              <a:t>Entradas: NDVI · suelo (AWC) · clima 14 d · Kc cultivo · superficie</a:t>
            </a:r>
            <a:endParaRPr lang="en-US" sz="1200" dirty="0"/>
          </a:p>
          <a:p>
            <a:pPr indent="0" marL="0">
              <a:spcAft>
                <a:spcPts val="400"/>
              </a:spcAft>
              <a:buNone/>
            </a:pPr>
            <a:r>
              <a:rPr lang="en-US" sz="1100" dirty="0">
                <a:solidFill>
                  <a:srgbClr val="0F2A22"/>
                </a:solidFill>
                <a:latin typeface="Calibri" pitchFamily="34" charset="0"/>
                <a:ea typeface="Calibri" pitchFamily="34" charset="-122"/>
                <a:cs typeface="Calibri" pitchFamily="34" charset="-120"/>
              </a:rPr>
              <a:t>Kc FAO-56: olivo 0.55 · cítrico 0.75 · maíz 1.05 …</a:t>
            </a:r>
            <a:endParaRPr lang="en-US" sz="1200" dirty="0"/>
          </a:p>
          <a:p>
            <a:pPr indent="0" marL="0">
              <a:spcAft>
                <a:spcPts val="400"/>
              </a:spcAft>
              <a:buNone/>
            </a:pPr>
            <a:r>
              <a:rPr lang="en-US" sz="1050" dirty="0">
                <a:solidFill>
                  <a:srgbClr val="0F2A22"/>
                </a:solidFill>
                <a:latin typeface="Courier New" pitchFamily="34" charset="0"/>
                <a:ea typeface="Courier New" pitchFamily="34" charset="-122"/>
                <a:cs typeface="Courier New" pitchFamily="34" charset="-120"/>
              </a:rPr>
              <a:t>AWC = capacidad_campo · 0.30 m · 1000 (mm)</a:t>
            </a:r>
            <a:endParaRPr lang="en-US" sz="1200" dirty="0"/>
          </a:p>
          <a:p>
            <a:pPr indent="0" marL="0">
              <a:spcAft>
                <a:spcPts val="400"/>
              </a:spcAft>
              <a:buNone/>
            </a:pPr>
            <a:r>
              <a:rPr lang="en-US" sz="1050" dirty="0">
                <a:solidFill>
                  <a:srgbClr val="0F2A22"/>
                </a:solidFill>
                <a:latin typeface="Courier New" pitchFamily="34" charset="0"/>
                <a:ea typeface="Courier New" pitchFamily="34" charset="-122"/>
                <a:cs typeface="Courier New" pitchFamily="34" charset="-120"/>
              </a:rPr>
              <a:t>ET0 ≈ clamp(2,8, 0.2·Tmedia − 0.5) mm/día</a:t>
            </a:r>
            <a:endParaRPr lang="en-US" sz="1200" dirty="0"/>
          </a:p>
        </p:txBody>
      </p:sp>
      <p:sp>
        <p:nvSpPr>
          <p:cNvPr id="9" name="Shape 7"/>
          <p:cNvSpPr/>
          <p:nvPr/>
        </p:nvSpPr>
        <p:spPr>
          <a:xfrm>
            <a:off x="6263640" y="1554480"/>
            <a:ext cx="5349240" cy="2468880"/>
          </a:xfrm>
          <a:prstGeom prst="roundRect">
            <a:avLst>
              <a:gd name="adj" fmla="val 1852"/>
            </a:avLst>
          </a:prstGeom>
          <a:solidFill>
            <a:srgbClr val="FFFFFF"/>
          </a:solidFill>
          <a:ln w="9525">
            <a:solidFill>
              <a:srgbClr val="C9A876"/>
            </a:solidFill>
            <a:prstDash val="solid"/>
          </a:ln>
        </p:spPr>
      </p:sp>
      <p:sp>
        <p:nvSpPr>
          <p:cNvPr id="10" name="Text 8"/>
          <p:cNvSpPr/>
          <p:nvPr/>
        </p:nvSpPr>
        <p:spPr>
          <a:xfrm>
            <a:off x="6428232" y="1664208"/>
            <a:ext cx="5074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NORMATIVA Y SALIDA</a:t>
            </a:r>
            <a:endParaRPr lang="en-US" sz="900" dirty="0"/>
          </a:p>
        </p:txBody>
      </p:sp>
      <p:sp>
        <p:nvSpPr>
          <p:cNvPr id="11" name="Text 9"/>
          <p:cNvSpPr/>
          <p:nvPr/>
        </p:nvSpPr>
        <p:spPr>
          <a:xfrm>
            <a:off x="6428232" y="1975104"/>
            <a:ext cx="5020056" cy="1938528"/>
          </a:xfrm>
          <a:prstGeom prst="rect">
            <a:avLst/>
          </a:prstGeom>
          <a:noFill/>
          <a:ln/>
        </p:spPr>
        <p:txBody>
          <a:bodyPr wrap="square" rtlCol="0" anchor="t"/>
          <a:lstStyle/>
          <a:p>
            <a:pPr indent="0" marL="0">
              <a:spcAft>
                <a:spcPts val="500"/>
              </a:spcAft>
              <a:buNone/>
            </a:pPr>
            <a:r>
              <a:rPr lang="en-US" sz="1200" b="1" dirty="0">
                <a:solidFill>
                  <a:srgbClr val="0F2A22"/>
                </a:solidFill>
                <a:latin typeface="Calibri" pitchFamily="34" charset="0"/>
                <a:ea typeface="Calibri" pitchFamily="34" charset="-122"/>
                <a:cs typeface="Calibri" pitchFamily="34" charset="-120"/>
              </a:rPr>
              <a:t>Cupo libre y cupo con RD 950/2024 (−20% por sequía).</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Urgencia: urgente / pronto / vigilar / suficiente.</a:t>
            </a:r>
            <a:endParaRPr lang="en-US" sz="1200" dirty="0"/>
          </a:p>
          <a:p>
            <a:pPr indent="0" marL="0">
              <a:spcAft>
                <a:spcPts val="400"/>
              </a:spcAft>
              <a:buNone/>
            </a:pPr>
            <a:r>
              <a:rPr lang="en-US" sz="1200" b="1" dirty="0">
                <a:solidFill>
                  <a:srgbClr val="1B4332"/>
                </a:solidFill>
                <a:latin typeface="Calibri" pitchFamily="34" charset="0"/>
                <a:ea typeface="Calibri" pitchFamily="34" charset="-122"/>
                <a:cs typeface="Calibri" pitchFamily="34" charset="-120"/>
              </a:rPr>
              <a:t>Narrativa determinística (plantillas, NO LLM) → cero alucinación, incluye nota fenológica del cultivo/mes.</a:t>
            </a:r>
            <a:endParaRPr lang="en-US" sz="1200" dirty="0"/>
          </a:p>
        </p:txBody>
      </p:sp>
      <p:sp>
        <p:nvSpPr>
          <p:cNvPr id="12" name="Shape 10"/>
          <p:cNvSpPr/>
          <p:nvPr/>
        </p:nvSpPr>
        <p:spPr>
          <a:xfrm>
            <a:off x="548640" y="4206240"/>
            <a:ext cx="11064240" cy="1920240"/>
          </a:xfrm>
          <a:prstGeom prst="roundRect">
            <a:avLst>
              <a:gd name="adj" fmla="val 2381"/>
            </a:avLst>
          </a:prstGeom>
          <a:solidFill>
            <a:srgbClr val="FFFFFF"/>
          </a:solidFill>
          <a:ln w="9525">
            <a:solidFill>
              <a:srgbClr val="C9A876"/>
            </a:solidFill>
            <a:prstDash val="solid"/>
          </a:ln>
        </p:spPr>
      </p:sp>
      <p:sp>
        <p:nvSpPr>
          <p:cNvPr id="13" name="Text 11"/>
          <p:cNvSpPr/>
          <p:nvPr/>
        </p:nvSpPr>
        <p:spPr>
          <a:xfrm>
            <a:off x="713232" y="4315968"/>
            <a:ext cx="10789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CÓMO SE LEE</a:t>
            </a:r>
            <a:endParaRPr lang="en-US" sz="900" dirty="0"/>
          </a:p>
        </p:txBody>
      </p:sp>
      <p:sp>
        <p:nvSpPr>
          <p:cNvPr id="14" name="Text 12"/>
          <p:cNvSpPr/>
          <p:nvPr/>
        </p:nvSpPr>
        <p:spPr>
          <a:xfrm>
            <a:off x="713232" y="4626864"/>
            <a:ext cx="10735056" cy="1389888"/>
          </a:xfrm>
          <a:prstGeom prst="rect">
            <a:avLst/>
          </a:prstGeom>
          <a:noFill/>
          <a:ln/>
        </p:spPr>
        <p:txBody>
          <a:bodyPr wrap="square" rtlCol="0" anchor="t"/>
          <a:lstStyle/>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Para roles agregadores (comunidad de regantes): déficit estimado en mm, cupo recomendado en m³, y el recorte legal del RD ya aplicado. Convierte teledetección en una cifra accionable y conforme a normativa.</a:t>
            </a:r>
            <a:endParaRPr lang="en-US" sz="1200" dirty="0"/>
          </a:p>
          <a:p>
            <a:pPr indent="0" marL="0">
              <a:spcAft>
                <a:spcPts val="400"/>
              </a:spcAft>
              <a:buNone/>
            </a:pPr>
            <a:r>
              <a:rPr lang="en-US" sz="1200" dirty="0">
                <a:solidFill>
                  <a:srgbClr val="6B6B5C"/>
                </a:solidFill>
                <a:latin typeface="Calibri" pitchFamily="34" charset="0"/>
                <a:ea typeface="Calibri" pitchFamily="34" charset="-122"/>
                <a:cs typeface="Calibri" pitchFamily="34" charset="-120"/>
              </a:rPr>
              <a:t>El "cómo" operativo (tratamiento, dron) queda fuera: FitoLink informa el QUÉ; la aplicación la coordina la red de pilotos certificados.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0E8"/>
        </a:solidFill>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indent="0" marL="0">
              <a:buNone/>
            </a:pPr>
            <a:r>
              <a:rPr lang="en-US" sz="1000" spc="200" kern="0" dirty="0">
                <a:solidFill>
                  <a:srgbClr val="6B6B5C"/>
                </a:solidFill>
                <a:latin typeface="Courier New" pitchFamily="34" charset="0"/>
                <a:ea typeface="Courier New" pitchFamily="34" charset="-122"/>
                <a:cs typeface="Courier New" pitchFamily="34" charset="-120"/>
              </a:rPr>
              <a:t>§ 12 · AVISOS FITOSANITARIOS OFICIALES</a:t>
            </a:r>
            <a:endParaRPr lang="en-US" sz="1000" dirty="0"/>
          </a:p>
        </p:txBody>
      </p:sp>
      <p:sp>
        <p:nvSpPr>
          <p:cNvPr id="3" name="Text 1"/>
          <p:cNvSpPr/>
          <p:nvPr/>
        </p:nvSpPr>
        <p:spPr>
          <a:xfrm>
            <a:off x="548640" y="6446520"/>
            <a:ext cx="10972800" cy="274320"/>
          </a:xfrm>
          <a:prstGeom prst="rect">
            <a:avLst/>
          </a:prstGeom>
          <a:noFill/>
          <a:ln/>
        </p:spPr>
        <p:txBody>
          <a:bodyPr wrap="square" rtlCol="0" anchor="ctr"/>
          <a:lstStyle/>
          <a:p>
            <a:pPr indent="0" marL="0">
              <a:buNone/>
            </a:pPr>
            <a:r>
              <a:rPr lang="en-US" sz="700" spc="200" kern="0" dirty="0">
                <a:solidFill>
                  <a:srgbClr val="6B6B5C"/>
                </a:solidFill>
                <a:latin typeface="Courier New" pitchFamily="34" charset="0"/>
                <a:ea typeface="Courier New" pitchFamily="34" charset="-122"/>
                <a:cs typeface="Courier New" pitchFamily="34" charset="-120"/>
              </a:rPr>
              <a:t>AGROM · FITOLINK · INTELIGENCIA AGRARIA DE PRECISIÓN · 2026</a:t>
            </a:r>
            <a:endParaRPr lang="en-US" sz="700" dirty="0"/>
          </a:p>
        </p:txBody>
      </p:sp>
      <p:sp>
        <p:nvSpPr>
          <p:cNvPr id="4" name="Text 2"/>
          <p:cNvSpPr/>
          <p:nvPr/>
        </p:nvSpPr>
        <p:spPr>
          <a:xfrm>
            <a:off x="548640" y="685800"/>
            <a:ext cx="11247120" cy="640080"/>
          </a:xfrm>
          <a:prstGeom prst="rect">
            <a:avLst/>
          </a:prstGeom>
          <a:noFill/>
          <a:ln/>
        </p:spPr>
        <p:txBody>
          <a:bodyPr wrap="square" rtlCol="0" anchor="ctr"/>
          <a:lstStyle/>
          <a:p>
            <a:pPr indent="0" marL="0">
              <a:buNone/>
            </a:pPr>
            <a:r>
              <a:rPr lang="en-US" sz="2600" b="1" dirty="0">
                <a:solidFill>
                  <a:srgbClr val="1B4332"/>
                </a:solidFill>
                <a:latin typeface="Georgia" pitchFamily="34" charset="0"/>
                <a:ea typeface="Georgia" pitchFamily="34" charset="-122"/>
                <a:cs typeface="Georgia" pitchFamily="34" charset="-120"/>
              </a:rPr>
              <a:t>El canal oficial cruzado con tu parcela</a:t>
            </a:r>
            <a:endParaRPr lang="en-US" sz="2600" dirty="0"/>
          </a:p>
        </p:txBody>
      </p:sp>
      <p:sp>
        <p:nvSpPr>
          <p:cNvPr id="5" name="Shape 3"/>
          <p:cNvSpPr/>
          <p:nvPr/>
        </p:nvSpPr>
        <p:spPr>
          <a:xfrm>
            <a:off x="548640" y="1371600"/>
            <a:ext cx="1005840" cy="0"/>
          </a:xfrm>
          <a:prstGeom prst="line">
            <a:avLst/>
          </a:prstGeom>
          <a:noFill/>
          <a:ln w="19050">
            <a:solidFill>
              <a:srgbClr val="C9A876"/>
            </a:solidFill>
            <a:prstDash val="solid"/>
          </a:ln>
        </p:spPr>
      </p:sp>
      <p:sp>
        <p:nvSpPr>
          <p:cNvPr id="6" name="Shape 4"/>
          <p:cNvSpPr/>
          <p:nvPr/>
        </p:nvSpPr>
        <p:spPr>
          <a:xfrm>
            <a:off x="548640" y="1554480"/>
            <a:ext cx="5532120" cy="2468880"/>
          </a:xfrm>
          <a:prstGeom prst="roundRect">
            <a:avLst>
              <a:gd name="adj" fmla="val 1852"/>
            </a:avLst>
          </a:prstGeom>
          <a:solidFill>
            <a:srgbClr val="FFFFFF"/>
          </a:solidFill>
          <a:ln w="9525">
            <a:solidFill>
              <a:srgbClr val="C9A876"/>
            </a:solidFill>
            <a:prstDash val="solid"/>
          </a:ln>
        </p:spPr>
      </p:sp>
      <p:sp>
        <p:nvSpPr>
          <p:cNvPr id="7" name="Text 5"/>
          <p:cNvSpPr/>
          <p:nvPr/>
        </p:nvSpPr>
        <p:spPr>
          <a:xfrm>
            <a:off x="713232" y="1664208"/>
            <a:ext cx="525780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5 FUENTES OFICIALES (pestAdvisoryService.ts)</a:t>
            </a:r>
            <a:endParaRPr lang="en-US" sz="900" dirty="0"/>
          </a:p>
        </p:txBody>
      </p:sp>
      <p:sp>
        <p:nvSpPr>
          <p:cNvPr id="8" name="Text 6"/>
          <p:cNvSpPr/>
          <p:nvPr/>
        </p:nvSpPr>
        <p:spPr>
          <a:xfrm>
            <a:off x="713232" y="1975104"/>
            <a:ext cx="5202936" cy="1938528"/>
          </a:xfrm>
          <a:prstGeom prst="rect">
            <a:avLst/>
          </a:prstGeom>
          <a:noFill/>
          <a:ln/>
        </p:spPr>
        <p:txBody>
          <a:bodyPr wrap="square" rtlCol="0" anchor="t"/>
          <a:lstStyle/>
          <a:p>
            <a:pPr indent="0" marL="0">
              <a:spcAft>
                <a:spcPts val="400"/>
              </a:spcAft>
              <a:buNone/>
            </a:pPr>
            <a:r>
              <a:rPr lang="en-US" sz="1200" b="1" dirty="0">
                <a:solidFill>
                  <a:srgbClr val="0F2A22"/>
                </a:solidFill>
                <a:latin typeface="Calibri" pitchFamily="34" charset="0"/>
                <a:ea typeface="Calibri" pitchFamily="34" charset="-122"/>
                <a:cs typeface="Calibri" pitchFamily="34" charset="-120"/>
              </a:rPr>
              <a:t>RAIF (Andalucía) · DARP (Cataluña)</a:t>
            </a:r>
            <a:endParaRPr lang="en-US" sz="1200" dirty="0"/>
          </a:p>
          <a:p>
            <a:pPr indent="0" marL="0">
              <a:spcAft>
                <a:spcPts val="400"/>
              </a:spcAft>
              <a:buNone/>
            </a:pPr>
            <a:r>
              <a:rPr lang="en-US" sz="1200" b="1" dirty="0">
                <a:solidFill>
                  <a:srgbClr val="0F2A22"/>
                </a:solidFill>
                <a:latin typeface="Calibri" pitchFamily="34" charset="0"/>
                <a:ea typeface="Calibri" pitchFamily="34" charset="-122"/>
                <a:cs typeface="Calibri" pitchFamily="34" charset="-120"/>
              </a:rPr>
              <a:t>SAIF/IVIA (C. Valenciana) · SIAM/IMIDA (Murcia)</a:t>
            </a:r>
            <a:endParaRPr lang="en-US" sz="1200" dirty="0"/>
          </a:p>
          <a:p>
            <a:pPr indent="0" marL="0">
              <a:spcAft>
                <a:spcPts val="600"/>
              </a:spcAft>
              <a:buNone/>
            </a:pPr>
            <a:r>
              <a:rPr lang="en-US" sz="1200" b="1" dirty="0">
                <a:solidFill>
                  <a:srgbClr val="0F2A22"/>
                </a:solidFill>
                <a:latin typeface="Calibri" pitchFamily="34" charset="0"/>
                <a:ea typeface="Calibri" pitchFamily="34" charset="-122"/>
                <a:cs typeface="Calibri" pitchFamily="34" charset="-120"/>
              </a:rPr>
              <a:t>ITACYL (Castilla y León)</a:t>
            </a:r>
            <a:endParaRPr lang="en-US" sz="1200" dirty="0"/>
          </a:p>
          <a:p>
            <a:pPr indent="0" marL="0">
              <a:spcAft>
                <a:spcPts val="400"/>
              </a:spcAft>
              <a:buNone/>
            </a:pPr>
            <a:r>
              <a:rPr lang="en-US" sz="1100" dirty="0">
                <a:solidFill>
                  <a:srgbClr val="6B6B5C"/>
                </a:solidFill>
                <a:latin typeface="Calibri" pitchFamily="34" charset="0"/>
                <a:ea typeface="Calibri" pitchFamily="34" charset="-122"/>
                <a:cs typeface="Calibri" pitchFamily="34" charset="-120"/>
              </a:rPr>
              <a:t>Curación: el equipo técnico transcribe el boletín oficial (cifras literales) — no scraping a ciegas. Idempotente por fingerprint.</a:t>
            </a:r>
            <a:endParaRPr lang="en-US" sz="1200" dirty="0"/>
          </a:p>
        </p:txBody>
      </p:sp>
      <p:sp>
        <p:nvSpPr>
          <p:cNvPr id="9" name="Shape 7"/>
          <p:cNvSpPr/>
          <p:nvPr/>
        </p:nvSpPr>
        <p:spPr>
          <a:xfrm>
            <a:off x="6263640" y="1554480"/>
            <a:ext cx="5349240" cy="2468880"/>
          </a:xfrm>
          <a:prstGeom prst="roundRect">
            <a:avLst>
              <a:gd name="adj" fmla="val 1852"/>
            </a:avLst>
          </a:prstGeom>
          <a:solidFill>
            <a:srgbClr val="FFFFFF"/>
          </a:solidFill>
          <a:ln w="9525">
            <a:solidFill>
              <a:srgbClr val="C9A876"/>
            </a:solidFill>
            <a:prstDash val="solid"/>
          </a:ln>
        </p:spPr>
      </p:sp>
      <p:sp>
        <p:nvSpPr>
          <p:cNvPr id="10" name="Text 8"/>
          <p:cNvSpPr/>
          <p:nvPr/>
        </p:nvSpPr>
        <p:spPr>
          <a:xfrm>
            <a:off x="6428232" y="1664208"/>
            <a:ext cx="5074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MATCHING PARCELA ↔ AVISO</a:t>
            </a:r>
            <a:endParaRPr lang="en-US" sz="900" dirty="0"/>
          </a:p>
        </p:txBody>
      </p:sp>
      <p:sp>
        <p:nvSpPr>
          <p:cNvPr id="11" name="Text 9"/>
          <p:cNvSpPr/>
          <p:nvPr/>
        </p:nvSpPr>
        <p:spPr>
          <a:xfrm>
            <a:off x="6428232" y="1975104"/>
            <a:ext cx="5020056" cy="1938528"/>
          </a:xfrm>
          <a:prstGeom prst="rect">
            <a:avLst/>
          </a:prstGeom>
          <a:noFill/>
          <a:ln/>
        </p:spPr>
        <p:txBody>
          <a:bodyPr wrap="square" rtlCol="0" anchor="t"/>
          <a:lstStyle/>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1 · Coincidencia de cultivo + vigente</a:t>
            </a:r>
            <a:endParaRPr lang="en-US" sz="1200" dirty="0"/>
          </a:p>
          <a:p>
            <a:pPr indent="0" marL="0">
              <a:spcAft>
                <a:spcPts val="500"/>
              </a:spcAft>
              <a:buNone/>
            </a:pPr>
            <a:r>
              <a:rPr lang="en-US" sz="1100" dirty="0">
                <a:solidFill>
                  <a:srgbClr val="0F2A22"/>
                </a:solidFill>
                <a:latin typeface="Courier New" pitchFamily="34" charset="0"/>
                <a:ea typeface="Courier New" pitchFamily="34" charset="-122"/>
                <a:cs typeface="Courier New" pitchFamily="34" charset="-120"/>
              </a:rPr>
              <a:t>2 · haversine(parcela, foco_aviso) ≤ radiusKm</a:t>
            </a:r>
            <a:endParaRPr lang="en-US" sz="1200" dirty="0"/>
          </a:p>
          <a:p>
            <a:pPr indent="0" marL="0">
              <a:spcAft>
                <a:spcPts val="500"/>
              </a:spcAft>
              <a:buNone/>
            </a:pPr>
            <a:r>
              <a:rPr lang="en-US" sz="1200" dirty="0">
                <a:solidFill>
                  <a:srgbClr val="0F2A22"/>
                </a:solidFill>
                <a:latin typeface="Calibri" pitchFamily="34" charset="0"/>
                <a:ea typeface="Calibri" pitchFamily="34" charset="-122"/>
                <a:cs typeface="Calibri" pitchFamily="34" charset="-120"/>
              </a:rPr>
              <a:t>Cada aviso lleva centroide + radio de la comarca afectada y enlace a la fuente oficial.</a:t>
            </a:r>
            <a:endParaRPr lang="en-US" sz="1200" dirty="0"/>
          </a:p>
          <a:p>
            <a:pPr indent="0" marL="0">
              <a:spcAft>
                <a:spcPts val="400"/>
              </a:spcAft>
              <a:buNone/>
            </a:pPr>
            <a:r>
              <a:rPr lang="en-US" sz="1200" b="1" dirty="0">
                <a:solidFill>
                  <a:srgbClr val="1B4332"/>
                </a:solidFill>
                <a:latin typeface="Calibri" pitchFamily="34" charset="0"/>
                <a:ea typeface="Calibri" pitchFamily="34" charset="-122"/>
                <a:cs typeface="Calibri" pitchFamily="34" charset="-120"/>
              </a:rPr>
              <a:t>Solo te llega lo de TU comarca y TU cultivo.</a:t>
            </a:r>
            <a:endParaRPr lang="en-US" sz="1200" dirty="0"/>
          </a:p>
        </p:txBody>
      </p:sp>
      <p:sp>
        <p:nvSpPr>
          <p:cNvPr id="12" name="Shape 10"/>
          <p:cNvSpPr/>
          <p:nvPr/>
        </p:nvSpPr>
        <p:spPr>
          <a:xfrm>
            <a:off x="548640" y="4206240"/>
            <a:ext cx="11064240" cy="1920240"/>
          </a:xfrm>
          <a:prstGeom prst="roundRect">
            <a:avLst>
              <a:gd name="adj" fmla="val 2381"/>
            </a:avLst>
          </a:prstGeom>
          <a:solidFill>
            <a:srgbClr val="FFFFFF"/>
          </a:solidFill>
          <a:ln w="9525">
            <a:solidFill>
              <a:srgbClr val="C9A876"/>
            </a:solidFill>
            <a:prstDash val="solid"/>
          </a:ln>
        </p:spPr>
      </p:sp>
      <p:sp>
        <p:nvSpPr>
          <p:cNvPr id="13" name="Text 11"/>
          <p:cNvSpPr/>
          <p:nvPr/>
        </p:nvSpPr>
        <p:spPr>
          <a:xfrm>
            <a:off x="713232" y="4315968"/>
            <a:ext cx="10789920" cy="256032"/>
          </a:xfrm>
          <a:prstGeom prst="rect">
            <a:avLst/>
          </a:prstGeom>
          <a:noFill/>
          <a:ln/>
        </p:spPr>
        <p:txBody>
          <a:bodyPr wrap="square" rtlCol="0" anchor="ctr"/>
          <a:lstStyle/>
          <a:p>
            <a:pPr indent="0" marL="0">
              <a:buNone/>
            </a:pPr>
            <a:r>
              <a:rPr lang="en-US" sz="900" b="1" spc="150" kern="0" dirty="0">
                <a:solidFill>
                  <a:srgbClr val="E07A3C"/>
                </a:solidFill>
                <a:latin typeface="Courier New" pitchFamily="34" charset="0"/>
                <a:ea typeface="Courier New" pitchFamily="34" charset="-122"/>
                <a:cs typeface="Courier New" pitchFamily="34" charset="-120"/>
              </a:rPr>
              <a:t>CÓMO SE LEE</a:t>
            </a:r>
            <a:endParaRPr lang="en-US" sz="900" dirty="0"/>
          </a:p>
        </p:txBody>
      </p:sp>
      <p:sp>
        <p:nvSpPr>
          <p:cNvPr id="14" name="Text 12"/>
          <p:cNvSpPr/>
          <p:nvPr/>
        </p:nvSpPr>
        <p:spPr>
          <a:xfrm>
            <a:off x="713232" y="4626864"/>
            <a:ext cx="10735056" cy="1389888"/>
          </a:xfrm>
          <a:prstGeom prst="rect">
            <a:avLst/>
          </a:prstGeom>
          <a:noFill/>
          <a:ln/>
        </p:spPr>
        <p:txBody>
          <a:bodyPr wrap="square" rtlCol="0" anchor="t"/>
          <a:lstStyle/>
          <a:p>
            <a:pPr indent="0" marL="0">
              <a:spcAft>
                <a:spcPts val="600"/>
              </a:spcAft>
              <a:buNone/>
            </a:pPr>
            <a:r>
              <a:rPr lang="en-US" sz="1200" dirty="0">
                <a:solidFill>
                  <a:srgbClr val="0F2A22"/>
                </a:solidFill>
                <a:latin typeface="Calibri" pitchFamily="34" charset="0"/>
                <a:ea typeface="Calibri" pitchFamily="34" charset="-122"/>
                <a:cs typeface="Calibri" pitchFamily="34" charset="-120"/>
              </a:rPr>
              <a:t>Ej. real: Prays oleae (polilla del olivo), comarca Subbética, 35,1% de aceitunas con bicho vivo sobre umbral 20%, a 19,7 km de la finca — cifra literal del RAIF, con enlace al boletín de la Junta.</a:t>
            </a:r>
            <a:endParaRPr lang="en-US" sz="1200" dirty="0"/>
          </a:p>
          <a:p>
            <a:pPr indent="0" marL="0">
              <a:spcAft>
                <a:spcPts val="400"/>
              </a:spcAft>
              <a:buNone/>
            </a:pPr>
            <a:r>
              <a:rPr lang="en-US" sz="1200" dirty="0">
                <a:solidFill>
                  <a:srgbClr val="6B6B5C"/>
                </a:solidFill>
                <a:latin typeface="Calibri" pitchFamily="34" charset="0"/>
                <a:ea typeface="Calibri" pitchFamily="34" charset="-122"/>
                <a:cs typeface="Calibri" pitchFamily="34" charset="-120"/>
              </a:rPr>
              <a:t>Principio: vendemos el CANAL, no el diagnóstico. El dato es del organismo oficial; nosotros lo geolocalizamos.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4332"/>
        </a:solidFill>
      </p:bgPr>
    </p:bg>
    <p:spTree>
      <p:nvGrpSpPr>
        <p:cNvPr id="1" name=""/>
        <p:cNvGrpSpPr/>
        <p:nvPr/>
      </p:nvGrpSpPr>
      <p:grpSpPr>
        <a:xfrm>
          <a:off x="0" y="0"/>
          <a:ext cx="0" cy="0"/>
          <a:chOff x="0" y="0"/>
          <a:chExt cx="0" cy="0"/>
        </a:xfrm>
      </p:grpSpPr>
      <p:sp>
        <p:nvSpPr>
          <p:cNvPr id="2" name="Text 0"/>
          <p:cNvSpPr/>
          <p:nvPr/>
        </p:nvSpPr>
        <p:spPr>
          <a:xfrm>
            <a:off x="640080" y="457200"/>
            <a:ext cx="10058400" cy="274320"/>
          </a:xfrm>
          <a:prstGeom prst="rect">
            <a:avLst/>
          </a:prstGeom>
          <a:noFill/>
          <a:ln/>
        </p:spPr>
        <p:txBody>
          <a:bodyPr wrap="square" rtlCol="0" anchor="ctr"/>
          <a:lstStyle/>
          <a:p>
            <a:pPr indent="0" marL="0">
              <a:buNone/>
            </a:pPr>
            <a:r>
              <a:rPr lang="en-US" sz="1000" spc="200" kern="0" dirty="0">
                <a:solidFill>
                  <a:srgbClr val="C9A876"/>
                </a:solidFill>
                <a:latin typeface="Courier New" pitchFamily="34" charset="0"/>
                <a:ea typeface="Courier New" pitchFamily="34" charset="-122"/>
                <a:cs typeface="Courier New" pitchFamily="34" charset="-120"/>
              </a:rPr>
              <a:t>§ SÍNTESIS · HACIA LA VENTANA DE COSECHA</a:t>
            </a:r>
            <a:endParaRPr lang="en-US" sz="100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Cómo todo esto converge en la cosecha</a:t>
            </a:r>
            <a:endParaRPr lang="en-US" sz="3000" dirty="0"/>
          </a:p>
        </p:txBody>
      </p:sp>
      <p:sp>
        <p:nvSpPr>
          <p:cNvPr id="4" name="Shape 2"/>
          <p:cNvSpPr/>
          <p:nvPr/>
        </p:nvSpPr>
        <p:spPr>
          <a:xfrm>
            <a:off x="658368" y="1691640"/>
            <a:ext cx="1280160" cy="0"/>
          </a:xfrm>
          <a:prstGeom prst="line">
            <a:avLst/>
          </a:prstGeom>
          <a:noFill/>
          <a:ln w="19050">
            <a:solidFill>
              <a:srgbClr val="C9A876"/>
            </a:solidFill>
            <a:prstDash val="solid"/>
          </a:ln>
        </p:spPr>
      </p:sp>
      <p:sp>
        <p:nvSpPr>
          <p:cNvPr id="5" name="Text 3"/>
          <p:cNvSpPr/>
          <p:nvPr/>
        </p:nvSpPr>
        <p:spPr>
          <a:xfrm>
            <a:off x="640080" y="1965960"/>
            <a:ext cx="10972800" cy="4023360"/>
          </a:xfrm>
          <a:prstGeom prst="rect">
            <a:avLst/>
          </a:prstGeom>
          <a:noFill/>
          <a:ln/>
        </p:spPr>
        <p:txBody>
          <a:bodyPr wrap="square" rtlCol="0" anchor="t"/>
          <a:lstStyle/>
          <a:p>
            <a:pPr indent="0" marL="0">
              <a:spcAft>
                <a:spcPts val="1400"/>
              </a:spcAft>
              <a:buNone/>
            </a:pPr>
            <a:r>
              <a:rPr lang="en-US" sz="1500" b="1" dirty="0">
                <a:solidFill>
                  <a:srgbClr val="CFE0C8"/>
                </a:solidFill>
              </a:rPr>
              <a:t>La pregunta del fondo — el momento óptimo de recolección de la aceituna — no es una ficha más: es la convergencia de varias capas a lo largo del tiempo.</a:t>
            </a:r>
            <a:endParaRPr lang="en-US" sz="1500" dirty="0"/>
          </a:p>
          <a:p>
            <a:pPr indent="0" marL="0">
              <a:spcAft>
                <a:spcPts val="700"/>
              </a:spcAft>
              <a:buNone/>
            </a:pPr>
            <a:r>
              <a:rPr lang="en-US" sz="1350" dirty="0">
                <a:solidFill>
                  <a:srgbClr val="FFFFFF"/>
                </a:solidFill>
              </a:rPr>
              <a:t>· NDRE (clorofila vía red-edge) traza la maduración: desciende cuando el fruto entra en envero.</a:t>
            </a:r>
            <a:endParaRPr lang="en-US" sz="1500" dirty="0"/>
          </a:p>
          <a:p>
            <a:pPr indent="0" marL="0">
              <a:spcAft>
                <a:spcPts val="700"/>
              </a:spcAft>
              <a:buNone/>
            </a:pPr>
            <a:r>
              <a:rPr lang="en-US" sz="1350" dirty="0">
                <a:solidFill>
                  <a:srgbClr val="FFFFFF"/>
                </a:solidFill>
              </a:rPr>
              <a:t>· NDMI (agua en hoja) y LST (térmico) marcan el estado hídrico de la campaña.</a:t>
            </a:r>
            <a:endParaRPr lang="en-US" sz="1500" dirty="0"/>
          </a:p>
          <a:p>
            <a:pPr indent="0" marL="0">
              <a:spcAft>
                <a:spcPts val="700"/>
              </a:spcAft>
              <a:buNone/>
            </a:pPr>
            <a:r>
              <a:rPr lang="en-US" sz="1350" dirty="0">
                <a:solidFill>
                  <a:srgbClr val="FFFFFF"/>
                </a:solidFill>
              </a:rPr>
              <a:t>· La acumulación térmica (ERA5) y la fenología por cultivo sitúan la fase: en olivo, jun-ago es endurecimiento de hueso; el envero llega en otoño.</a:t>
            </a:r>
            <a:endParaRPr lang="en-US" sz="1500" dirty="0"/>
          </a:p>
          <a:p>
            <a:pPr indent="0" marL="0">
              <a:spcAft>
                <a:spcPts val="1400"/>
              </a:spcAft>
              <a:buNone/>
            </a:pPr>
            <a:r>
              <a:rPr lang="en-US" sz="1350" dirty="0">
                <a:solidFill>
                  <a:srgbClr val="FFFFFF"/>
                </a:solidFill>
              </a:rPr>
              <a:t>· La serie temporal de cada índice — que hoy se construye cada ~5 días — es la base sobre la que, con campañas acumuladas, se afina la ventana óptima.</a:t>
            </a:r>
            <a:endParaRPr lang="en-US" sz="1500" dirty="0"/>
          </a:p>
          <a:p>
            <a:pPr indent="0" marL="0">
              <a:buNone/>
            </a:pPr>
            <a:r>
              <a:rPr lang="en-US" sz="1350" i="1" dirty="0">
                <a:solidFill>
                  <a:srgbClr val="C9A876"/>
                </a:solidFill>
              </a:rPr>
              <a:t>Posición honesta: FitoLink no entrega hoy un "índice de cosecha" cerrado. Entrega las capas que lo componen, midiéndose ya sobre la finca real. La recomendación de cosecha es la evolución natural de este seguimiento — no una promesa de marketing.</a:t>
            </a:r>
            <a:endParaRPr lang="en-US" sz="1500" dirty="0"/>
          </a:p>
        </p:txBody>
      </p:sp>
      <p:sp>
        <p:nvSpPr>
          <p:cNvPr id="6" name="Text 4"/>
          <p:cNvSpPr/>
          <p:nvPr/>
        </p:nvSpPr>
        <p:spPr>
          <a:xfrm>
            <a:off x="640080" y="6400800"/>
            <a:ext cx="7315200" cy="274320"/>
          </a:xfrm>
          <a:prstGeom prst="rect">
            <a:avLst/>
          </a:prstGeom>
          <a:noFill/>
          <a:ln/>
        </p:spPr>
        <p:txBody>
          <a:bodyPr wrap="square" rtlCol="0" anchor="ctr"/>
          <a:lstStyle/>
          <a:p>
            <a:pPr indent="0" marL="0">
              <a:buNone/>
            </a:pPr>
            <a:r>
              <a:rPr lang="en-US" sz="800" spc="200" kern="0" dirty="0">
                <a:solidFill>
                  <a:srgbClr val="6B6B5C"/>
                </a:solidFill>
                <a:latin typeface="Courier New" pitchFamily="34" charset="0"/>
                <a:ea typeface="Courier New" pitchFamily="34" charset="-122"/>
                <a:cs typeface="Courier New" pitchFamily="34" charset="-120"/>
              </a:rPr>
              <a:t>AgroM · FitoLink · fitolink.agrom.es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FitoLink · Fichas de información — guía técnica</dc:title>
  <dc:subject>PptxGenJS Presentation</dc:subject>
  <dc:creator>AgroM · SystemRapid SL</dc:creator>
  <cp:lastModifiedBy>AgroM · SystemRapid SL</cp:lastModifiedBy>
  <cp:revision>1</cp:revision>
  <dcterms:created xsi:type="dcterms:W3CDTF">2026-06-12T09:46:34Z</dcterms:created>
  <dcterms:modified xsi:type="dcterms:W3CDTF">2026-06-12T09:46:34Z</dcterms:modified>
</cp:coreProperties>
</file>