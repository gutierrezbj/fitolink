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anguti/dev/srs/fitolink/docs/comercial/storyboard-cosecha/01-port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0"/>
            <a:ext cx="3886200" cy="514350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457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463040" y="475488"/>
            <a:ext cx="109728" cy="109728"/>
          </a:xfrm>
          <a:prstGeom prst="ellipse">
            <a:avLst/>
          </a:prstGeom>
          <a:solidFill>
            <a:srgbClr val="E07A3C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DE COSECHA · METODOLOGÍA DE VALIDACIÓN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2194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cosecha de olivar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para los técnicos de agronomía del fondo.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AgroM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· PUNTO DE PARTIDA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está montado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años de serie satelital (NDVI · NDRE · NDMI) de la finca.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parcela dividida en 3 zonas de manejo por vigor.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avisos de la parcela, día a día.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E8DD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03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  </a:t>
            </a:r>
            <a:pPr indent="0" marL="0">
              <a:buNone/>
            </a:pPr>
            <a:r>
              <a:rPr lang="en-US" sz="1300" i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NDVI orienta el vigor — no mide la madurez ni la calidad del fruto.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0" y="141732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E8DDC9"/>
          </a:solidFill>
          <a:ln w="12700">
            <a:solidFill>
              <a:srgbClr val="C9A8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41732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de zonas (captura del demo)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(arrastrar imagen aquí)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· EL LÍMITE DEL NDVI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 falta inspeccionar el fruto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predecir la cosecha hace falta el fruto, no solo la planta.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olivo, el dato clave es el índice graso (aceite) y la madurez.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Olivo = verde con verde: el satélite no llega al fruto. Hay que ir de cerca, con dron y cámara NIR.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33832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3383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SATÉLITE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vigor de la parcela (lejos)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9080" y="33832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120640" y="33832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3383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FRUTO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con dron + NIR (cerca)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CÓMO ENCAJA TODO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cruce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SATÉLITE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años · zonas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91056" y="2057400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37944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37944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 NIR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por zona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44952" y="2057400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 el índice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98848" y="2057400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45736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FONDO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años de cosecha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52744" y="2057400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9632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C9A87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las fuentes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265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53528" y="2057400"/>
            <a:ext cx="1225296" cy="1371600"/>
          </a:xfrm>
          <a:prstGeom prst="roundRect">
            <a:avLst>
              <a:gd name="adj" fmla="val 5224"/>
            </a:avLst>
          </a:prstGeom>
          <a:solidFill>
            <a:srgbClr val="1B433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53528" y="2057400"/>
            <a:ext cx="12252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F4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· calidad → 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combina las cuatro fuentes.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FASE A · LABORATORIO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Calibrar el índice del fruto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agrónomos del fondo, definir cómo se mide la madurez del olivo: Índice de Madurez de Jaén (color), rendimiento graso (aceite) y humedad.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la cámara NIR del dron a este fruto en concreto.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índice propio, comparable.</a:t>
            </a:r>
            <a:endParaRPr lang="en-US" sz="1500" dirty="0"/>
          </a:p>
        </p:txBody>
      </p:sp>
      <p:pic>
        <p:nvPicPr>
          <p:cNvPr id="5" name="Image 0" descr="/Users/juanguti/dev/srs/fitolink/docs/comercial/storyboard-cosecha/02-l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417320"/>
            <a:ext cx="3383280" cy="310896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FASE B · CAMPO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Muestrear el fruto por zona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dron (Mavic 3E + NIR) muestrea por zona: vigor alto, medio y bajo.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cuenta árbol a árbol las 4.500 ha — se muestrea el estado de madurez por zona.</a:t>
            </a:r>
            <a:endParaRPr lang="en-US" sz="1500" dirty="0"/>
          </a:p>
        </p:txBody>
      </p:sp>
      <p:pic>
        <p:nvPicPr>
          <p:cNvPr id="5" name="Image 0" descr="/Users/juanguti/dev/srs/fitolink/docs/comercial/storyboard-cosecha/03-camp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417320"/>
            <a:ext cx="3383280" cy="310896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FASE C · VALIDACIÓN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contra laboratorio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fruta del campo se lleva al laboratorio.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 que el índice del NIR cuadra con el del laboratorio ("peras con peras").</a:t>
            </a:r>
            <a:endParaRPr lang="en-US" sz="1500" dirty="0"/>
          </a:p>
        </p:txBody>
      </p:sp>
      <p:pic>
        <p:nvPicPr>
          <p:cNvPr id="5" name="Image 0" descr="/Users/juanguti/dev/srs/fitolink/docs/comercial/storyboard-cosecha/04-valid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417320"/>
            <a:ext cx="3383280" cy="3108960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RESULTADO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de decisión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la parcela por nivel de madurez   </a:t>
            </a:r>
            <a:pPr indent="0" marL="0">
              <a:buNone/>
            </a:pPr>
            <a:r>
              <a:rPr lang="en-US" sz="13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cada zona en cada nivel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414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media de la cosecha   </a:t>
            </a:r>
            <a:pPr indent="0" marL="0">
              <a:buNone/>
            </a:pPr>
            <a:r>
              <a:rPr lang="en-US" sz="13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las zonas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91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€/kg   </a:t>
            </a:r>
            <a:pPr indent="0" marL="0">
              <a:buNone/>
            </a:pPr>
            <a:r>
              <a:rPr lang="en-US" sz="13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gana o se pierde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410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el responsable   </a:t>
            </a:r>
            <a:pPr indent="0" marL="0">
              <a:buNone/>
            </a:pPr>
            <a:r>
              <a:rPr lang="en-US" sz="1300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ya · o esperar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madurez por zona se rellena al calibrar — hoy está pendiente.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LO QUE HACE FALTA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aporta el fondo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su laboratorio.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4 años de datos de cosecha (kg · calidad · fechas).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de sus técnicos de agronomía.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8DD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RITMO  </a:t>
            </a:r>
            <a:pPr indent="0" marL="0">
              <a:buNone/>
            </a:pPr>
            <a:r>
              <a:rPr lang="en-US" sz="1400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 medio plazo. La cosecha es de octubre a febrero; esta campaña = análisis y captura inicial de datos.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valida, qué se obtiene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si la señal del fruto predice la calidad de la cosecha, con datos reales de la finca.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una decisión informada: cuándo recoger y con qué calidad.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seguir es del fondo, tras ver si la metodología encaja.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90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43584" y="4590288"/>
            <a:ext cx="82296" cy="82296"/>
          </a:xfrm>
          <a:prstGeom prst="ellipse">
            <a:avLst/>
          </a:prstGeom>
          <a:solidFill>
            <a:srgbClr val="E07A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cosecha — metodología de validación</dc:title>
  <dc:subject>PptxGenJS Presentation</dc:subject>
  <dc:creator>AgroM</dc:creator>
  <cp:lastModifiedBy>AgroM</cp:lastModifiedBy>
  <cp:revision>1</cp:revision>
  <dcterms:created xsi:type="dcterms:W3CDTF">2026-06-30T21:26:12Z</dcterms:created>
  <dcterms:modified xsi:type="dcterms:W3CDTF">2026-06-30T21:26:12Z</dcterms:modified>
</cp:coreProperties>
</file>